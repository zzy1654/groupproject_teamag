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13.svg" ContentType="image/svg+xml"/>
  <Override PartName="/ppt/media/image15.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3.svg" ContentType="image/svg+xml"/>
  <Override PartName="/ppt/media/image35.svg" ContentType="image/svg+xml"/>
  <Override PartName="/ppt/media/image39.svg" ContentType="image/svg+xml"/>
  <Override PartName="/ppt/media/image41.svg" ContentType="image/svg+xml"/>
  <Override PartName="/ppt/media/image4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6"/>
  </p:notesMasterIdLst>
  <p:sldIdLst>
    <p:sldId id="262" r:id="rId4"/>
    <p:sldId id="273" r:id="rId5"/>
    <p:sldId id="256" r:id="rId7"/>
    <p:sldId id="257" r:id="rId8"/>
    <p:sldId id="258" r:id="rId9"/>
    <p:sldId id="259" r:id="rId10"/>
    <p:sldId id="271" r:id="rId11"/>
    <p:sldId id="272" r:id="rId12"/>
    <p:sldId id="270" r:id="rId13"/>
  </p:sldIdLst>
  <p:sldSz cx="12192000" cy="6858000"/>
  <p:notesSz cx="6858000" cy="9144000"/>
  <p:custDataLst>
    <p:tags r:id="rId1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90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90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gs" Target="tags/tag48.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ChangeArrowheads="1" noTextEdit="1"/>
          </p:cNvSpPr>
          <p:nvPr>
            <p:ph type="sldImg" idx="4294967295"/>
          </p:nvPr>
        </p:nvSpPr>
        <p:spPr>
          <a:xfrm>
            <a:off x="2290763" y="512763"/>
            <a:ext cx="4562475" cy="2566987"/>
          </a:xfrm>
          <a:ln>
            <a:miter lim="800000"/>
          </a:ln>
        </p:spPr>
      </p:sp>
      <p:sp>
        <p:nvSpPr>
          <p:cNvPr id="9218" name="备注占位符 2"/>
          <p:cNvSpPr>
            <a:spLocks noGrp="1" noChangeArrowheads="1"/>
          </p:cNvSpPr>
          <p:nvPr>
            <p:ph type="body" idx="4294967295"/>
          </p:nvPr>
        </p:nvSpPr>
        <p:spPr/>
        <p:txBody>
          <a:bodyPr/>
          <a:lstStyle/>
          <a:p>
            <a:endParaRPr lang="zh-CN" altLang="en-US"/>
          </a:p>
        </p:txBody>
      </p:sp>
      <p:sp>
        <p:nvSpPr>
          <p:cNvPr id="921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fontAlgn="base">
              <a:buFont typeface="Arial" panose="020B0604020202020204" pitchFamily="34" charset="0"/>
              <a:buNone/>
            </a:pPr>
            <a:fld id="{A4786EF5-C889-4AB4-8993-D13DBE6714FC}" type="slidenum">
              <a:rPr altLang="en-US" smtClean="0">
                <a:latin typeface="Calibri" panose="020F0502020204030204" charset="0"/>
              </a:rPr>
            </a:fld>
            <a:endParaRPr lang="zh-CN" altLang="en-US">
              <a:latin typeface="Calibri" panose="020F05020202040302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Today, we'll present our project for the COMP7940 Cloud Computing course. Our task was to transform a simple lab chatbot into a robust, cloud-native Telegram bot. Our main goal was to meet all seven mandatory technical requirements set by the course, while building a stable, low-cost, and intelligent chatbot with core features like natural language Q&amp;A, multi-turn conversations, and essential system safeguards like rate limiting and error handling.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Here's an overview of our system architecture. When a user sends a message through Telegram, the request is forwarded to our bot service, which is containerized with Docker and hosted on an AWS EC2 instance. The bot then interacts with a Large Language Model API to generate a response, which is sent back to the user. Importantly, all conversation logs are securely stored in a MongoDB Atlas cloud database for persistence and monitoring. This architecture ensures scalability, maintainability, and cost-effectiveness.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build this project, we utilized a modern and efficient tech stack. We chose Python as our primary language, using the `python-telegram-bot` framework for seamless interaction with the Telegram API. For deployment, we containerized the application with Docker and hosted it on an AWS EC2 free-tier instance. MongoDB Atlas's free tier was used for our cloud database needs. The bot's intelligence comes from integrating with an external LLM API, and we maintained strict version control throughout the project using Git and GitHub.</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demonstrates our fulfillment of all seven mandatory technical requirements for the course. We successfully integrated the Telegram bot, set up cloud logging with MongoDB, hosted the service on AWS EC2, integrated the LLM API, managed our code with Git, containerized the application with Docker, and strictly controlled costs by utilizing free-tier resources. Each requirement was carefully implemented to ensure the project's success and compliance with the course objectives.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Our deployment process followed a streamlined DevOps approach. After local development and testing, we containerized the application using Docker. We then configured an AWS EC2 instance and deployed the Docker container, ensuring the bot runs continuously.</a:t>
            </a:r>
            <a:endParaRPr lang="en-US" sz="1400" b="0" i="0" u="none" strike="noStrike" dirty="0">
              <a:solidFill>
                <a:srgbClr val="000000"/>
              </a:solidFill>
            </a:endParaRPr>
          </a:p>
          <a:p>
            <a:pPr indent="0" algn="l">
              <a:lnSpc>
                <a:spcPct val="100000"/>
              </a:lnSpc>
            </a:pPr>
            <a:r>
              <a:rPr lang="en-US" sz="1400" b="0" i="0" u="none" strike="noStrike" dirty="0">
                <a:solidFill>
                  <a:srgbClr val="000000"/>
                </a:solidFill>
              </a:rPr>
              <a:t>As shown in the cost summary, we effectively utilized free-tier services for our infrastructure, resulting in a very low operational cost, primarily limited to minimal LLM API usage. This demonstrates our ability to build cost-effective cloud solutions.</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summary, our project successfully delivered a fully functional cloud-native chatbot, meeting all course requirements. We gained valuable hands-on experience with core cloud technologies and DevOps practices. We overcame challenges like Docker deployment issues and API rate limiting, learning crucial lessons about version control, cost management, and system stability. For the future, we plan to optimize the bot's performance, add new features, and explore more advanced cloud architectures to further enhance the system. Thank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noChangeArrowheads="1" noTextEdit="1"/>
          </p:cNvSpPr>
          <p:nvPr>
            <p:ph type="sldImg" idx="4294967295"/>
          </p:nvPr>
        </p:nvSpPr>
        <p:spPr>
          <a:ln>
            <a:miter lim="800000"/>
          </a:ln>
        </p:spPr>
      </p:sp>
      <p:sp>
        <p:nvSpPr>
          <p:cNvPr id="23554" name="备注占位符 2"/>
          <p:cNvSpPr>
            <a:spLocks noGrp="1" noChangeArrowheads="1"/>
          </p:cNvSpPr>
          <p:nvPr>
            <p:ph type="body" idx="4294967295"/>
          </p:nvPr>
        </p:nvSpPr>
        <p:spPr/>
        <p:txBody>
          <a:bodyPr/>
          <a:lstStyle/>
          <a:p>
            <a:endParaRPr lang="zh-CN" altLang="en-US"/>
          </a:p>
        </p:txBody>
      </p:sp>
      <p:sp>
        <p:nvSpPr>
          <p:cNvPr id="2355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charset="-122"/>
              </a:defRPr>
            </a:lvl9pPr>
          </a:lstStyle>
          <a:p>
            <a:pPr fontAlgn="base">
              <a:buFont typeface="Arial" panose="020B0604020202020204" pitchFamily="34" charset="0"/>
              <a:buNone/>
            </a:pPr>
            <a:fld id="{294437B0-3078-4658-A406-1E10079EBAD1}" type="slidenum">
              <a:rPr altLang="en-US" smtClean="0">
                <a:latin typeface="Calibri" panose="020F0502020204030204" charset="0"/>
              </a:rPr>
            </a:fld>
            <a:endParaRPr lang="zh-CN" altLang="en-US">
              <a:latin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13" descr="C:\Users\admin\Desktop\2图示图\image1 (4).jpegimage1 (4)"/>
          <p:cNvPicPr>
            <a:picLocks noChangeAspect="1" noChangeArrowheads="1"/>
          </p:cNvPicPr>
          <p:nvPr userDrawn="1">
            <p:custDataLst>
              <p:tags r:id="rId2"/>
            </p:custDataLst>
          </p:nvPr>
        </p:nvPicPr>
        <p:blipFill>
          <a:blip r:embed="rId3"/>
          <a:srcRect/>
          <a:stretch>
            <a:fillRect/>
          </a:stretch>
        </p:blipFill>
        <p:spPr bwMode="auto">
          <a:xfrm>
            <a:off x="6269039" y="-6350"/>
            <a:ext cx="59197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userDrawn="1">
            <p:custDataLst>
              <p:tags r:id="rId4"/>
            </p:custDataLst>
          </p:nvPr>
        </p:nvSpPr>
        <p:spPr>
          <a:xfrm>
            <a:off x="6269039" y="-6350"/>
            <a:ext cx="5915025" cy="6873875"/>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Tx/>
              <a:buNone/>
            </a:pPr>
            <a:endParaRPr lang="zh-CN" altLang="en-US" sz="1350" noProof="1">
              <a:latin typeface="微软雅黑" panose="020B0503020204020204" charset="-122"/>
              <a:ea typeface="微软雅黑" panose="020B0503020204020204" charset="-122"/>
              <a:cs typeface="微软雅黑" panose="020B0503020204020204" charset="-122"/>
            </a:endParaRPr>
          </a:p>
        </p:txBody>
      </p:sp>
      <p:sp>
        <p:nvSpPr>
          <p:cNvPr id="11" name="矩形 10"/>
          <p:cNvSpPr/>
          <p:nvPr userDrawn="1">
            <p:custDataLst>
              <p:tags r:id="rId5"/>
            </p:custDataLst>
          </p:nvPr>
        </p:nvSpPr>
        <p:spPr>
          <a:xfrm>
            <a:off x="11566525" y="5856883"/>
            <a:ext cx="146051" cy="23217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Tx/>
              <a:buNone/>
            </a:pPr>
            <a:endParaRPr lang="zh-CN" altLang="en-US" sz="1350" noProof="1">
              <a:latin typeface="微软雅黑" panose="020B0503020204020204" charset="-122"/>
              <a:ea typeface="微软雅黑" panose="020B0503020204020204" charset="-122"/>
              <a:cs typeface="微软雅黑" panose="020B0503020204020204" charset="-122"/>
            </a:endParaRPr>
          </a:p>
        </p:txBody>
      </p:sp>
      <p:cxnSp>
        <p:nvCxnSpPr>
          <p:cNvPr id="9" name="直接连接符 8"/>
          <p:cNvCxnSpPr/>
          <p:nvPr>
            <p:custDataLst>
              <p:tags r:id="rId6"/>
            </p:custDataLst>
          </p:nvPr>
        </p:nvCxnSpPr>
        <p:spPr>
          <a:xfrm>
            <a:off x="2032000" y="4314825"/>
            <a:ext cx="2214563"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7"/>
            </p:custDataLst>
          </p:nvPr>
        </p:nvSpPr>
        <p:spPr>
          <a:xfrm>
            <a:off x="1203324" y="3526116"/>
            <a:ext cx="4190400" cy="525545"/>
          </a:xfrm>
        </p:spPr>
        <p:txBody>
          <a:bodyPr anchor="b">
            <a:normAutofit/>
          </a:bodyPr>
          <a:lstStyle>
            <a:lvl1pPr algn="ctr">
              <a:defRPr sz="2700">
                <a:solidFill>
                  <a:schemeClr val="accent1"/>
                </a:solidFill>
                <a:latin typeface="微软雅黑" panose="020B0503020204020204" charset="-122"/>
                <a:ea typeface="微软雅黑" panose="020B0503020204020204" charset="-122"/>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8"/>
            </p:custDataLst>
          </p:nvPr>
        </p:nvSpPr>
        <p:spPr>
          <a:xfrm>
            <a:off x="1203323" y="4554498"/>
            <a:ext cx="4190400" cy="237885"/>
          </a:xfrm>
        </p:spPr>
        <p:txBody>
          <a:bodyPr anchor="ctr">
            <a:normAutofit/>
          </a:bodyPr>
          <a:lstStyle>
            <a:lvl1pPr marL="0" indent="0" algn="ctr">
              <a:buNone/>
              <a:defRPr sz="12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4" name="日期占位符 3"/>
          <p:cNvSpPr>
            <a:spLocks noGrp="1"/>
          </p:cNvSpPr>
          <p:nvPr>
            <p:ph type="dt" sz="half" idx="13"/>
            <p:custDataLst>
              <p:tags r:id="rId9"/>
            </p:custDataLst>
          </p:nvPr>
        </p:nvSpPr>
        <p:spPr>
          <a:xfrm>
            <a:off x="429419" y="6350000"/>
            <a:ext cx="3600451" cy="315913"/>
          </a:xfrm>
        </p:spPr>
        <p:txBody>
          <a:bodyPr/>
          <a:lstStyle>
            <a:lvl1pPr>
              <a:defRPr>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15" name="页脚占位符 4"/>
          <p:cNvSpPr>
            <a:spLocks noGrp="1"/>
          </p:cNvSpPr>
          <p:nvPr>
            <p:ph type="ftr" sz="quarter" idx="14"/>
            <p:custDataLst>
              <p:tags r:id="rId10"/>
            </p:custDataLst>
          </p:nvPr>
        </p:nvSpPr>
        <p:spPr>
          <a:xfrm>
            <a:off x="3456517" y="6350000"/>
            <a:ext cx="5278967" cy="315913"/>
          </a:xfrm>
        </p:spPr>
        <p:txBody>
          <a:bodyPr/>
          <a:lstStyle>
            <a:lvl1pPr>
              <a:defRPr>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16" name="灯片编号占位符 5"/>
          <p:cNvSpPr>
            <a:spLocks noGrp="1"/>
          </p:cNvSpPr>
          <p:nvPr>
            <p:ph type="sldNum" sz="quarter" idx="15"/>
            <p:custDataLst>
              <p:tags r:id="rId11"/>
            </p:custDataLst>
          </p:nvPr>
        </p:nvSpPr>
        <p:spPr>
          <a:xfrm>
            <a:off x="8160544" y="6350000"/>
            <a:ext cx="3600451" cy="315913"/>
          </a:xfrm>
        </p:spPr>
        <p:txBody>
          <a:bodyPr/>
          <a:lstStyle>
            <a:lvl1pPr>
              <a:defRPr/>
            </a:lvl1pPr>
          </a:lstStyle>
          <a:p>
            <a:fld id="{DA7E3722-4456-4165-8855-0DE474955CB9}" type="slidenum">
              <a:rPr lang="zh-CN" altLang="en-US"/>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a:xfrm>
            <a:off x="879475" y="5619750"/>
            <a:ext cx="2700339" cy="236935"/>
          </a:xfrm>
        </p:spPr>
        <p:txBody>
          <a:bodyPr/>
          <a:lstStyle>
            <a:lvl1pPr>
              <a:defRPr/>
            </a:lvl1pPr>
          </a:lstStyle>
          <a:p>
            <a:endParaRPr lang="zh-CN" altLang="en-US"/>
          </a:p>
        </p:txBody>
      </p:sp>
      <p:sp>
        <p:nvSpPr>
          <p:cNvPr id="3" name="页脚占位符 4"/>
          <p:cNvSpPr>
            <a:spLocks noGrp="1"/>
          </p:cNvSpPr>
          <p:nvPr>
            <p:ph type="ftr" sz="quarter" idx="11"/>
            <p:custDataLst>
              <p:tags r:id="rId3"/>
            </p:custDataLst>
          </p:nvPr>
        </p:nvSpPr>
        <p:spPr>
          <a:xfrm>
            <a:off x="4116388" y="5619750"/>
            <a:ext cx="3959225" cy="236935"/>
          </a:xfrm>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a:xfrm>
            <a:off x="8610600" y="5619750"/>
            <a:ext cx="2700339" cy="236935"/>
          </a:xfrm>
        </p:spPr>
        <p:txBody>
          <a:bodyPr/>
          <a:lstStyle>
            <a:lvl1pPr>
              <a:defRPr/>
            </a:lvl1pPr>
          </a:lstStyle>
          <a:p>
            <a:fld id="{FE680010-91CB-4A68-8B01-847126DFE386}" type="slidenum">
              <a:rPr lang="zh-CN" altLang="en-US"/>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11" descr="C:\Users\admin\Desktop\2图示图\image1 (4).jpegimage1 (4)"/>
          <p:cNvPicPr>
            <a:picLocks noChangeAspect="1" noChangeArrowheads="1"/>
          </p:cNvPicPr>
          <p:nvPr userDrawn="1">
            <p:custDataLst>
              <p:tags r:id="rId2"/>
            </p:custDataLst>
          </p:nvPr>
        </p:nvPicPr>
        <p:blipFill>
          <a:blip r:embed="rId3"/>
          <a:srcRect/>
          <a:stretch>
            <a:fillRect/>
          </a:stretch>
        </p:blipFill>
        <p:spPr bwMode="auto">
          <a:xfrm>
            <a:off x="8356600" y="859631"/>
            <a:ext cx="3783013" cy="5147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userDrawn="1">
            <p:custDataLst>
              <p:tags r:id="rId4"/>
            </p:custDataLst>
          </p:nvPr>
        </p:nvSpPr>
        <p:spPr>
          <a:xfrm>
            <a:off x="8356600" y="842963"/>
            <a:ext cx="3779839" cy="5172075"/>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Tx/>
              <a:buNone/>
            </a:pPr>
            <a:endParaRPr lang="zh-CN" altLang="en-US" sz="1350" noProof="1">
              <a:latin typeface="微软雅黑" panose="020B0503020204020204" charset="-122"/>
              <a:ea typeface="微软雅黑" panose="020B0503020204020204" charset="-122"/>
              <a:cs typeface="微软雅黑" panose="020B0503020204020204" charset="-122"/>
            </a:endParaRPr>
          </a:p>
        </p:txBody>
      </p:sp>
      <p:sp>
        <p:nvSpPr>
          <p:cNvPr id="8" name="矩形 7"/>
          <p:cNvSpPr/>
          <p:nvPr userDrawn="1">
            <p:custDataLst>
              <p:tags r:id="rId5"/>
            </p:custDataLst>
          </p:nvPr>
        </p:nvSpPr>
        <p:spPr>
          <a:xfrm>
            <a:off x="11545888" y="5220891"/>
            <a:ext cx="147637" cy="23217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Tx/>
              <a:buNone/>
            </a:pPr>
            <a:endParaRPr lang="zh-CN" altLang="en-US" sz="1350" noProof="1">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ph type="title" hasCustomPrompt="1"/>
            <p:custDataLst>
              <p:tags r:id="rId6"/>
            </p:custDataLst>
          </p:nvPr>
        </p:nvSpPr>
        <p:spPr>
          <a:xfrm>
            <a:off x="2303175" y="2911414"/>
            <a:ext cx="5421600" cy="818100"/>
          </a:xfrm>
        </p:spPr>
        <p:txBody>
          <a:bodyPr rIns="25400" rtlCol="0" anchor="b">
            <a:noAutofit/>
          </a:bodyPr>
          <a:lstStyle>
            <a:lvl1pPr marL="0" marR="0" algn="l" defTabSz="914400" rtl="0" eaLnBrk="1" fontAlgn="auto" latinLnBrk="0" hangingPunct="1">
              <a:lnSpc>
                <a:spcPct val="100000"/>
              </a:lnSpc>
              <a:buNone/>
              <a:defRPr kumimoji="0" lang="zh-CN" altLang="en-US" sz="6600" b="1" i="0" u="none" strike="noStrike" kern="1200" cap="none" spc="200" normalizeH="0" baseline="0" noProof="1" dirty="0">
                <a:solidFill>
                  <a:schemeClr val="accent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编辑标题</a:t>
            </a:r>
            <a:endParaRPr noProof="1">
              <a:sym typeface="+mn-ea"/>
            </a:endParaRPr>
          </a:p>
        </p:txBody>
      </p:sp>
      <p:sp>
        <p:nvSpPr>
          <p:cNvPr id="3" name="日期占位符 3"/>
          <p:cNvSpPr>
            <a:spLocks noGrp="1"/>
          </p:cNvSpPr>
          <p:nvPr>
            <p:ph type="dt" sz="half" idx="10"/>
            <p:custDataLst>
              <p:tags r:id="rId7"/>
            </p:custDataLst>
          </p:nvPr>
        </p:nvSpPr>
        <p:spPr>
          <a:xfrm>
            <a:off x="879475" y="5619750"/>
            <a:ext cx="2700339" cy="236935"/>
          </a:xfrm>
        </p:spPr>
        <p:txBody>
          <a:bodyPr/>
          <a:lstStyle>
            <a:lvl1pPr>
              <a:defRPr/>
            </a:lvl1pPr>
          </a:lstStyle>
          <a:p>
            <a:endParaRPr lang="zh-CN" altLang="en-US"/>
          </a:p>
        </p:txBody>
      </p:sp>
      <p:sp>
        <p:nvSpPr>
          <p:cNvPr id="4" name="页脚占位符 4"/>
          <p:cNvSpPr>
            <a:spLocks noGrp="1"/>
          </p:cNvSpPr>
          <p:nvPr>
            <p:ph type="ftr" sz="quarter" idx="11"/>
            <p:custDataLst>
              <p:tags r:id="rId8"/>
            </p:custDataLst>
          </p:nvPr>
        </p:nvSpPr>
        <p:spPr>
          <a:xfrm>
            <a:off x="4116388" y="5619750"/>
            <a:ext cx="3959225" cy="236935"/>
          </a:xfrm>
        </p:spPr>
        <p:txBody>
          <a:bodyPr/>
          <a:lstStyle>
            <a:lvl1pPr>
              <a:defRPr/>
            </a:lvl1pPr>
          </a:lstStyle>
          <a:p>
            <a:endParaRPr lang="zh-CN" altLang="en-US"/>
          </a:p>
        </p:txBody>
      </p:sp>
      <p:sp>
        <p:nvSpPr>
          <p:cNvPr id="5" name="灯片编号占位符 5"/>
          <p:cNvSpPr>
            <a:spLocks noGrp="1"/>
          </p:cNvSpPr>
          <p:nvPr>
            <p:ph type="sldNum" sz="quarter" idx="12"/>
            <p:custDataLst>
              <p:tags r:id="rId9"/>
            </p:custDataLst>
          </p:nvPr>
        </p:nvSpPr>
        <p:spPr>
          <a:xfrm>
            <a:off x="8610600" y="5619750"/>
            <a:ext cx="2700339" cy="236935"/>
          </a:xfrm>
        </p:spPr>
        <p:txBody>
          <a:bodyPr/>
          <a:lstStyle>
            <a:lvl1pPr>
              <a:defRPr/>
            </a:lvl1pPr>
          </a:lstStyle>
          <a:p>
            <a:fld id="{60A9A87C-69CA-4F8A-86F2-D7767EE450A5}" type="slidenum">
              <a:rPr lang="zh-CN" altLang="en-US"/>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24.xml"/><Relationship Id="rId5" Type="http://schemas.openxmlformats.org/officeDocument/2006/relationships/image" Target="../media/image3.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6" Type="http://schemas.openxmlformats.org/officeDocument/2006/relationships/notesSlide" Target="../notesSlides/notesSlide1.xml"/><Relationship Id="rId15" Type="http://schemas.openxmlformats.org/officeDocument/2006/relationships/slideLayout" Target="../slideLayouts/slideLayout14.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4.svg"/><Relationship Id="rId3" Type="http://schemas.openxmlformats.org/officeDocument/2006/relationships/image" Target="../media/image23.png"/><Relationship Id="rId21" Type="http://schemas.openxmlformats.org/officeDocument/2006/relationships/notesSlide" Target="../notesSlides/notesSlide5.xml"/><Relationship Id="rId20" Type="http://schemas.openxmlformats.org/officeDocument/2006/relationships/slideLayout" Target="../slideLayouts/slideLayout12.xml"/><Relationship Id="rId2" Type="http://schemas.openxmlformats.org/officeDocument/2006/relationships/image" Target="../media/image22.svg"/><Relationship Id="rId19" Type="http://schemas.openxmlformats.org/officeDocument/2006/relationships/image" Target="../media/image7.svg"/><Relationship Id="rId18" Type="http://schemas.openxmlformats.org/officeDocument/2006/relationships/image" Target="../media/image6.png"/><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image" Target="../media/image28.svg"/><Relationship Id="rId11" Type="http://schemas.openxmlformats.org/officeDocument/2006/relationships/image" Target="../media/image27.png"/><Relationship Id="rId10" Type="http://schemas.openxmlformats.org/officeDocument/2006/relationships/image" Target="../media/image26.svg"/><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svg"/><Relationship Id="rId7" Type="http://schemas.openxmlformats.org/officeDocument/2006/relationships/image" Target="../media/image34.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11.svg"/><Relationship Id="rId3" Type="http://schemas.openxmlformats.org/officeDocument/2006/relationships/image" Target="../media/image31.png"/><Relationship Id="rId2" Type="http://schemas.openxmlformats.org/officeDocument/2006/relationships/image" Target="../media/image30.svg"/><Relationship Id="rId12" Type="http://schemas.openxmlformats.org/officeDocument/2006/relationships/notesSlide" Target="../notesSlides/notesSlide6.xml"/><Relationship Id="rId11" Type="http://schemas.openxmlformats.org/officeDocument/2006/relationships/slideLayout" Target="../slideLayouts/slideLayout12.xml"/><Relationship Id="rId10" Type="http://schemas.openxmlformats.org/officeDocument/2006/relationships/image" Target="../media/image37.png"/><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5.xml"/><Relationship Id="rId5" Type="http://schemas.openxmlformats.org/officeDocument/2006/relationships/tags" Target="../tags/tag47.xml"/><Relationship Id="rId4" Type="http://schemas.openxmlformats.org/officeDocument/2006/relationships/image" Target="../media/image3.png"/><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121" name="标题 9"/>
          <p:cNvSpPr>
            <a:spLocks noGrp="1"/>
          </p:cNvSpPr>
          <p:nvPr>
            <p:ph type="ctrTitle" hasCustomPrompt="1"/>
            <p:custDataLst>
              <p:tags r:id="rId1"/>
            </p:custDataLst>
          </p:nvPr>
        </p:nvSpPr>
        <p:spPr>
          <a:xfrm>
            <a:off x="1155065" y="3429000"/>
            <a:ext cx="4190365" cy="701040"/>
          </a:xfrm>
        </p:spPr>
        <p:txBody>
          <a:bodyPr>
            <a:normAutofit fontScale="90000"/>
          </a:bodyPr>
          <a:p>
            <a:r>
              <a:rPr lang="en-US" altLang="zh-CN" noProof="1">
                <a:solidFill>
                  <a:schemeClr val="accent1"/>
                </a:solidFill>
              </a:rPr>
              <a:t> COMP7940 </a:t>
            </a:r>
            <a:br>
              <a:rPr lang="en-US" altLang="zh-CN" noProof="1">
                <a:solidFill>
                  <a:schemeClr val="accent1"/>
                </a:solidFill>
              </a:rPr>
            </a:br>
            <a:r>
              <a:rPr lang="en-US" altLang="zh-CN" noProof="1">
                <a:solidFill>
                  <a:schemeClr val="accent1"/>
                </a:solidFill>
              </a:rPr>
              <a:t>Cloud Computing</a:t>
            </a:r>
            <a:endParaRPr lang="en-US" altLang="zh-CN" noProof="1">
              <a:solidFill>
                <a:schemeClr val="accent1"/>
              </a:solidFill>
            </a:endParaRPr>
          </a:p>
        </p:txBody>
      </p:sp>
      <p:sp>
        <p:nvSpPr>
          <p:cNvPr id="5122" name="副标题 11"/>
          <p:cNvSpPr>
            <a:spLocks noGrp="1"/>
          </p:cNvSpPr>
          <p:nvPr>
            <p:ph type="subTitle" idx="1"/>
            <p:custDataLst>
              <p:tags r:id="rId2"/>
            </p:custDataLst>
          </p:nvPr>
        </p:nvSpPr>
        <p:spPr>
          <a:xfrm>
            <a:off x="1146175" y="4046220"/>
            <a:ext cx="4485640" cy="1755775"/>
          </a:xfrm>
        </p:spPr>
        <p:txBody>
          <a:bodyPr>
            <a:normAutofit/>
          </a:bodyPr>
          <a:p>
            <a:r>
              <a:rPr lang="zh-CN" altLang="en-US" sz="1600" noProof="1">
                <a:solidFill>
                  <a:schemeClr val="accent1"/>
                </a:solidFill>
              </a:rPr>
              <a:t>Tian Qinan</a:t>
            </a:r>
            <a:r>
              <a:rPr lang="en-US" altLang="zh-CN" sz="1600" noProof="1">
                <a:solidFill>
                  <a:schemeClr val="accent1"/>
                </a:solidFill>
              </a:rPr>
              <a:t> -</a:t>
            </a:r>
            <a:r>
              <a:rPr lang="zh-CN" altLang="en-US" sz="1600" noProof="1">
                <a:solidFill>
                  <a:schemeClr val="accent1"/>
                </a:solidFill>
              </a:rPr>
              <a:t>25456431</a:t>
            </a:r>
            <a:endParaRPr lang="zh-CN" altLang="en-US" sz="1600" noProof="1">
              <a:solidFill>
                <a:schemeClr val="accent1"/>
              </a:solidFill>
            </a:endParaRPr>
          </a:p>
          <a:p>
            <a:r>
              <a:rPr lang="zh-CN" altLang="en-US" sz="1600" noProof="1">
                <a:solidFill>
                  <a:schemeClr val="accent1"/>
                </a:solidFill>
              </a:rPr>
              <a:t>X</a:t>
            </a:r>
            <a:r>
              <a:rPr lang="en-US" altLang="zh-CN" sz="1600" noProof="1">
                <a:solidFill>
                  <a:schemeClr val="accent1"/>
                </a:solidFill>
              </a:rPr>
              <a:t>ie</a:t>
            </a:r>
            <a:r>
              <a:rPr lang="zh-CN" altLang="en-US" sz="1600" noProof="1">
                <a:solidFill>
                  <a:schemeClr val="accent1"/>
                </a:solidFill>
              </a:rPr>
              <a:t> Youxin</a:t>
            </a:r>
            <a:r>
              <a:rPr lang="en-US" altLang="zh-CN" sz="1600" noProof="1">
                <a:solidFill>
                  <a:schemeClr val="accent1"/>
                </a:solidFill>
              </a:rPr>
              <a:t> -</a:t>
            </a:r>
            <a:r>
              <a:rPr lang="zh-CN" altLang="en-US" sz="1600" noProof="1">
                <a:solidFill>
                  <a:schemeClr val="accent1"/>
                </a:solidFill>
              </a:rPr>
              <a:t>25450875</a:t>
            </a:r>
            <a:endParaRPr lang="zh-CN" altLang="en-US" sz="1600" noProof="1">
              <a:solidFill>
                <a:schemeClr val="accent1"/>
              </a:solidFill>
            </a:endParaRPr>
          </a:p>
          <a:p>
            <a:r>
              <a:rPr lang="zh-CN" altLang="en-US" sz="1600" noProof="1">
                <a:solidFill>
                  <a:schemeClr val="accent1"/>
                </a:solidFill>
              </a:rPr>
              <a:t>Zhang Ziye</a:t>
            </a:r>
            <a:r>
              <a:rPr lang="en-US" altLang="zh-CN" sz="1600" noProof="1">
                <a:solidFill>
                  <a:schemeClr val="accent1"/>
                </a:solidFill>
              </a:rPr>
              <a:t> -</a:t>
            </a:r>
            <a:r>
              <a:rPr lang="zh-CN" altLang="en-US" sz="1600" noProof="1">
                <a:solidFill>
                  <a:schemeClr val="accent1"/>
                </a:solidFill>
              </a:rPr>
              <a:t>25409271</a:t>
            </a:r>
            <a:endParaRPr lang="zh-CN" altLang="en-US" sz="1600" noProof="1">
              <a:solidFill>
                <a:schemeClr val="accent1"/>
              </a:solidFill>
            </a:endParaRPr>
          </a:p>
        </p:txBody>
      </p:sp>
      <p:sp>
        <p:nvSpPr>
          <p:cNvPr id="2" name="文本框 1"/>
          <p:cNvSpPr txBox="1"/>
          <p:nvPr>
            <p:custDataLst>
              <p:tags r:id="rId3"/>
            </p:custDataLst>
          </p:nvPr>
        </p:nvSpPr>
        <p:spPr>
          <a:xfrm>
            <a:off x="1616075" y="1092835"/>
            <a:ext cx="3268345" cy="1885315"/>
          </a:xfrm>
          <a:prstGeom prst="rect">
            <a:avLst/>
          </a:prstGeom>
          <a:solidFill>
            <a:schemeClr val="accent1"/>
          </a:solidFill>
        </p:spPr>
        <p:txBody>
          <a:bodyPr anchor="ctr">
            <a:normAutofit/>
          </a:bodyPr>
          <a:p>
            <a:pPr algn="ctr">
              <a:buFontTx/>
              <a:buNone/>
            </a:pPr>
            <a:r>
              <a:rPr lang="en-US" altLang="zh-CN" sz="3600" noProof="1">
                <a:solidFill>
                  <a:schemeClr val="lt1"/>
                </a:solidFill>
                <a:latin typeface="Impact" panose="020B0806030902050204" pitchFamily="34" charset="0"/>
                <a:cs typeface="Impact" panose="020B0806030902050204" pitchFamily="34" charset="0"/>
                <a:sym typeface="+mn-ea"/>
              </a:rPr>
              <a:t>Project: Telegram LLM Chatbot</a:t>
            </a:r>
            <a:endParaRPr lang="en-US" altLang="zh-CN" sz="3600" noProof="1">
              <a:solidFill>
                <a:schemeClr val="lt1"/>
              </a:solidFill>
              <a:latin typeface="Impact" panose="020B0806030902050204" pitchFamily="34" charset="0"/>
              <a:cs typeface="Impact" panose="020B0806030902050204" pitchFamily="34" charset="0"/>
              <a:sym typeface="+mn-ea"/>
            </a:endParaRPr>
          </a:p>
        </p:txBody>
      </p:sp>
      <p:sp>
        <p:nvSpPr>
          <p:cNvPr id="11" name="文本框 10"/>
          <p:cNvSpPr txBox="1"/>
          <p:nvPr>
            <p:custDataLst>
              <p:tags r:id="rId4"/>
            </p:custDataLst>
          </p:nvPr>
        </p:nvSpPr>
        <p:spPr>
          <a:xfrm>
            <a:off x="10118246" y="2658589"/>
            <a:ext cx="241068" cy="2603180"/>
          </a:xfrm>
          <a:prstGeom prst="rect">
            <a:avLst/>
          </a:prstGeom>
          <a:noFill/>
        </p:spPr>
        <p:txBody>
          <a:bodyPr vert="eaVert" wrap="square" lIns="0" tIns="0" rIns="0" bIns="0" rtlCol="0" anchor="ctr">
            <a:normAutofit/>
          </a:bodyPr>
          <a:p>
            <a:pPr algn="r"/>
            <a:r>
              <a:rPr lang="en-US" altLang="zh-CN" sz="1000" spc="200" dirty="0">
                <a:solidFill>
                  <a:schemeClr val="lt1"/>
                </a:solidFill>
                <a:latin typeface="微软雅黑" panose="020B0503020204020204" charset="-122"/>
                <a:cs typeface="微软雅黑" panose="020B0503020204020204" charset="-122"/>
              </a:rPr>
              <a:t>BUSINESS ANALYSIS REPORT</a:t>
            </a:r>
            <a:endParaRPr lang="en-US" altLang="zh-CN" sz="1000" spc="200" dirty="0">
              <a:solidFill>
                <a:schemeClr val="lt1"/>
              </a:solidFill>
              <a:latin typeface="微软雅黑" panose="020B0503020204020204" charset="-122"/>
              <a:cs typeface="微软雅黑" panose="020B0503020204020204" charset="-122"/>
            </a:endParaRPr>
          </a:p>
        </p:txBody>
      </p:sp>
      <p:pic>
        <p:nvPicPr>
          <p:cNvPr id="3" name="图片 2"/>
          <p:cNvPicPr>
            <a:picLocks noChangeAspect="1"/>
          </p:cNvPicPr>
          <p:nvPr/>
        </p:nvPicPr>
        <p:blipFill>
          <a:blip r:embed="rId5"/>
          <a:stretch>
            <a:fillRect/>
          </a:stretch>
        </p:blipFill>
        <p:spPr>
          <a:xfrm>
            <a:off x="6261100" y="0"/>
            <a:ext cx="5948680" cy="6884035"/>
          </a:xfrm>
          <a:prstGeom prst="rect">
            <a:avLst/>
          </a:prstGeom>
        </p:spPr>
      </p:pic>
    </p:spTree>
    <p:custDataLst>
      <p:tags r:id="rId6"/>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4924742" y="1067610"/>
            <a:ext cx="1934289" cy="656034"/>
          </a:xfrm>
          <a:prstGeom prst="rect">
            <a:avLst/>
          </a:prstGeom>
          <a:no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7500" tIns="35100" rIns="67500" bIns="35100" anchor="ctr">
            <a:normAutofit fontScale="95000"/>
          </a:bodyPr>
          <a:lstStyle>
            <a:defPPr>
              <a:defRPr lang="zh-CN"/>
            </a:defPPr>
            <a:lvl1pPr algn="ctr">
              <a:defRPr sz="3200">
                <a:solidFill>
                  <a:schemeClr val="bg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3765" fontAlgn="auto">
              <a:buFontTx/>
              <a:buNone/>
            </a:pPr>
            <a:r>
              <a:rPr lang="en-US" altLang="zh-CN" sz="2700" b="1" noProof="1">
                <a:solidFill>
                  <a:schemeClr val="accent1"/>
                </a:solidFill>
                <a:latin typeface="微软雅黑" panose="020B0503020204020204" charset="-122"/>
                <a:ea typeface="微软雅黑" panose="020B0503020204020204" charset="-122"/>
                <a:cs typeface="微软雅黑" panose="020B0503020204020204" charset="-122"/>
                <a:sym typeface="+mn-ea"/>
              </a:rPr>
              <a:t>C</a:t>
            </a:r>
            <a:r>
              <a:rPr lang="zh-CN" altLang="en-US" sz="2700" b="1" noProof="1">
                <a:solidFill>
                  <a:schemeClr val="accent1"/>
                </a:solidFill>
                <a:latin typeface="微软雅黑" panose="020B0503020204020204" charset="-122"/>
                <a:ea typeface="微软雅黑" panose="020B0503020204020204" charset="-122"/>
                <a:cs typeface="微软雅黑" panose="020B0503020204020204" charset="-122"/>
                <a:sym typeface="+mn-ea"/>
              </a:rPr>
              <a:t>atalogue</a:t>
            </a:r>
            <a:endParaRPr lang="zh-CN" altLang="en-US" sz="2700" b="1" noProof="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2"/>
            </p:custDataLst>
          </p:nvPr>
        </p:nvSpPr>
        <p:spPr>
          <a:xfrm>
            <a:off x="2755741" y="2598919"/>
            <a:ext cx="746522" cy="623888"/>
          </a:xfrm>
          <a:prstGeom prst="rect">
            <a:avLst/>
          </a:prstGeom>
          <a:noFill/>
        </p:spPr>
        <p:txBody>
          <a:bodyPr lIns="67500" tIns="35100" rIns="67500" bIns="35100">
            <a:normAutofit fontScale="97500"/>
          </a:bodyPr>
          <a:lstStyle/>
          <a:p>
            <a:pPr defTabSz="913765" fontAlgn="auto">
              <a:buFontTx/>
              <a:buNone/>
            </a:pPr>
            <a:r>
              <a:rPr lang="en-US" altLang="zh-CN" sz="3600" b="1" noProof="1">
                <a:solidFill>
                  <a:schemeClr val="accent1"/>
                </a:solidFill>
                <a:latin typeface="微软雅黑" panose="020B0503020204020204" charset="-122"/>
                <a:cs typeface="微软雅黑" panose="020B0503020204020204" charset="-122"/>
                <a:sym typeface="+mn-ea"/>
              </a:rPr>
              <a:t>01</a:t>
            </a:r>
            <a:endParaRPr lang="en-US" altLang="zh-CN" sz="3600" b="1" noProof="1">
              <a:solidFill>
                <a:schemeClr val="accent1"/>
              </a:solidFill>
              <a:latin typeface="微软雅黑" panose="020B0503020204020204" charset="-122"/>
              <a:cs typeface="微软雅黑" panose="020B0503020204020204" charset="-122"/>
              <a:sym typeface="+mn-ea"/>
            </a:endParaRPr>
          </a:p>
        </p:txBody>
      </p:sp>
      <p:sp>
        <p:nvSpPr>
          <p:cNvPr id="8195" name="文本框 15"/>
          <p:cNvSpPr txBox="1">
            <a:spLocks noChangeArrowheads="1"/>
          </p:cNvSpPr>
          <p:nvPr>
            <p:custDataLst>
              <p:tags r:id="rId3"/>
            </p:custDataLst>
          </p:nvPr>
        </p:nvSpPr>
        <p:spPr bwMode="auto">
          <a:xfrm>
            <a:off x="3624898" y="2665594"/>
            <a:ext cx="2240756" cy="34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500" tIns="35100" rIns="67500" bIns="35100" anchor="ct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charset="-122"/>
              </a:defRPr>
            </a:lvl9pPr>
          </a:lstStyle>
          <a:p>
            <a:pPr>
              <a:lnSpc>
                <a:spcPct val="130000"/>
              </a:lnSpc>
              <a:buFontTx/>
              <a:buNone/>
            </a:pPr>
            <a:r>
              <a:rPr lang="en-US" altLang="zh-CN" sz="2000" b="1" dirty="0">
                <a:solidFill>
                  <a:schemeClr val="tx1">
                    <a:lumMod val="75000"/>
                    <a:lumOff val="25000"/>
                  </a:schemeClr>
                </a:solidFill>
                <a:latin typeface="微软雅黑" panose="020B0503020204020204" charset="-122"/>
                <a:cs typeface="微软雅黑" panose="020B0503020204020204" charset="-122"/>
                <a:sym typeface="+mn-ea"/>
              </a:rPr>
              <a:t>Project Overview</a:t>
            </a:r>
            <a:endParaRPr lang="en-US" altLang="zh-CN" sz="2000" b="1" dirty="0">
              <a:solidFill>
                <a:schemeClr val="tx1">
                  <a:lumMod val="75000"/>
                  <a:lumOff val="25000"/>
                </a:schemeClr>
              </a:solidFill>
              <a:latin typeface="微软雅黑" panose="020B0503020204020204" charset="-122"/>
              <a:cs typeface="微软雅黑" panose="020B0503020204020204" charset="-122"/>
              <a:sym typeface="+mn-ea"/>
            </a:endParaRPr>
          </a:p>
        </p:txBody>
      </p:sp>
      <p:sp>
        <p:nvSpPr>
          <p:cNvPr id="22" name="文本框 21"/>
          <p:cNvSpPr txBox="1"/>
          <p:nvPr>
            <p:custDataLst>
              <p:tags r:id="rId4"/>
            </p:custDataLst>
          </p:nvPr>
        </p:nvSpPr>
        <p:spPr>
          <a:xfrm>
            <a:off x="6347857" y="2598919"/>
            <a:ext cx="746522" cy="623888"/>
          </a:xfrm>
          <a:prstGeom prst="rect">
            <a:avLst/>
          </a:prstGeom>
          <a:noFill/>
        </p:spPr>
        <p:txBody>
          <a:bodyPr lIns="67500" tIns="35100" rIns="67500" bIns="35100">
            <a:normAutofit fontScale="95000"/>
          </a:bodyPr>
          <a:lstStyle/>
          <a:p>
            <a:pPr defTabSz="913765" fontAlgn="auto">
              <a:buFontTx/>
              <a:buNone/>
            </a:pPr>
            <a:r>
              <a:rPr lang="en-US" altLang="zh-CN" sz="3600" b="1" noProof="1">
                <a:solidFill>
                  <a:schemeClr val="accent1"/>
                </a:solidFill>
                <a:latin typeface="微软雅黑" panose="020B0503020204020204" charset="-122"/>
                <a:cs typeface="微软雅黑" panose="020B0503020204020204" charset="-122"/>
                <a:sym typeface="+mn-ea"/>
              </a:rPr>
              <a:t>02</a:t>
            </a:r>
            <a:endParaRPr lang="en-US" altLang="zh-CN" sz="3600" b="1" noProof="1">
              <a:solidFill>
                <a:schemeClr val="accent1"/>
              </a:solidFill>
              <a:latin typeface="微软雅黑" panose="020B0503020204020204" charset="-122"/>
              <a:cs typeface="微软雅黑" panose="020B0503020204020204" charset="-122"/>
              <a:sym typeface="+mn-ea"/>
            </a:endParaRPr>
          </a:p>
        </p:txBody>
      </p:sp>
      <p:sp>
        <p:nvSpPr>
          <p:cNvPr id="8199" name="文本框 23"/>
          <p:cNvSpPr txBox="1">
            <a:spLocks noChangeArrowheads="1"/>
          </p:cNvSpPr>
          <p:nvPr>
            <p:custDataLst>
              <p:tags r:id="rId5"/>
            </p:custDataLst>
          </p:nvPr>
        </p:nvSpPr>
        <p:spPr bwMode="auto">
          <a:xfrm>
            <a:off x="7213228" y="2665594"/>
            <a:ext cx="2239566" cy="34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500" tIns="35100" rIns="67500" bIns="35100" anchor="ct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charset="-122"/>
              </a:defRPr>
            </a:lvl9pPr>
          </a:lstStyle>
          <a:p>
            <a:pPr>
              <a:lnSpc>
                <a:spcPct val="130000"/>
              </a:lnSpc>
              <a:buFontTx/>
              <a:buNone/>
            </a:pPr>
            <a:r>
              <a:rPr lang="en-US" altLang="zh-CN" sz="2000" b="1" dirty="0">
                <a:solidFill>
                  <a:schemeClr val="tx1">
                    <a:lumMod val="75000"/>
                    <a:lumOff val="25000"/>
                  </a:schemeClr>
                </a:solidFill>
                <a:latin typeface="微软雅黑" panose="020B0503020204020204" charset="-122"/>
                <a:cs typeface="微软雅黑" panose="020B0503020204020204" charset="-122"/>
                <a:sym typeface="+mn-ea"/>
              </a:rPr>
              <a:t>System Architecture</a:t>
            </a:r>
            <a:endParaRPr lang="en-US" altLang="zh-CN" sz="2000" b="1" dirty="0">
              <a:solidFill>
                <a:schemeClr val="tx1">
                  <a:lumMod val="75000"/>
                  <a:lumOff val="25000"/>
                </a:schemeClr>
              </a:solidFill>
              <a:latin typeface="微软雅黑" panose="020B0503020204020204" charset="-122"/>
              <a:cs typeface="微软雅黑" panose="020B0503020204020204" charset="-122"/>
              <a:sym typeface="+mn-ea"/>
            </a:endParaRPr>
          </a:p>
        </p:txBody>
      </p:sp>
      <p:sp>
        <p:nvSpPr>
          <p:cNvPr id="17" name="文本框 16"/>
          <p:cNvSpPr txBox="1"/>
          <p:nvPr>
            <p:custDataLst>
              <p:tags r:id="rId6"/>
            </p:custDataLst>
          </p:nvPr>
        </p:nvSpPr>
        <p:spPr>
          <a:xfrm>
            <a:off x="2755741" y="3718702"/>
            <a:ext cx="746522" cy="623888"/>
          </a:xfrm>
          <a:prstGeom prst="rect">
            <a:avLst/>
          </a:prstGeom>
          <a:noFill/>
        </p:spPr>
        <p:txBody>
          <a:bodyPr lIns="67500" tIns="35100" rIns="67500" bIns="35100">
            <a:normAutofit fontScale="95000"/>
          </a:bodyPr>
          <a:lstStyle/>
          <a:p>
            <a:pPr defTabSz="913765" fontAlgn="auto">
              <a:buFontTx/>
              <a:buNone/>
            </a:pPr>
            <a:r>
              <a:rPr lang="en-US" altLang="zh-CN" sz="3600" b="1" noProof="1">
                <a:solidFill>
                  <a:schemeClr val="accent1"/>
                </a:solidFill>
                <a:latin typeface="微软雅黑" panose="020B0503020204020204" charset="-122"/>
                <a:cs typeface="微软雅黑" panose="020B0503020204020204" charset="-122"/>
                <a:sym typeface="+mn-ea"/>
              </a:rPr>
              <a:t>03</a:t>
            </a:r>
            <a:endParaRPr lang="en-US" altLang="zh-CN" sz="3600" b="1" noProof="1">
              <a:solidFill>
                <a:schemeClr val="accent1"/>
              </a:solidFill>
              <a:latin typeface="微软雅黑" panose="020B0503020204020204" charset="-122"/>
              <a:cs typeface="微软雅黑" panose="020B0503020204020204" charset="-122"/>
              <a:sym typeface="+mn-ea"/>
            </a:endParaRPr>
          </a:p>
        </p:txBody>
      </p:sp>
      <p:sp>
        <p:nvSpPr>
          <p:cNvPr id="8197" name="文本框 20"/>
          <p:cNvSpPr txBox="1">
            <a:spLocks noChangeArrowheads="1"/>
          </p:cNvSpPr>
          <p:nvPr>
            <p:custDataLst>
              <p:tags r:id="rId7"/>
            </p:custDataLst>
          </p:nvPr>
        </p:nvSpPr>
        <p:spPr bwMode="auto">
          <a:xfrm>
            <a:off x="3624898" y="3813952"/>
            <a:ext cx="2240756" cy="34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500" tIns="35100" rIns="67500" bIns="35100" anchor="ct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charset="-122"/>
              </a:defRPr>
            </a:lvl9pPr>
          </a:lstStyle>
          <a:p>
            <a:pPr>
              <a:lnSpc>
                <a:spcPct val="130000"/>
              </a:lnSpc>
              <a:buFontTx/>
              <a:buNone/>
            </a:pPr>
            <a:r>
              <a:rPr lang="en-US" altLang="zh-CN" sz="2000" b="1" dirty="0">
                <a:solidFill>
                  <a:schemeClr val="tx1">
                    <a:lumMod val="75000"/>
                    <a:lumOff val="25000"/>
                  </a:schemeClr>
                </a:solidFill>
                <a:latin typeface="微软雅黑" panose="020B0503020204020204" charset="-122"/>
                <a:cs typeface="微软雅黑" panose="020B0503020204020204" charset="-122"/>
                <a:sym typeface="+mn-ea"/>
              </a:rPr>
              <a:t>Technical Stack</a:t>
            </a:r>
            <a:endParaRPr lang="en-US" altLang="zh-CN" sz="2000" b="1" dirty="0">
              <a:solidFill>
                <a:schemeClr val="tx1">
                  <a:lumMod val="75000"/>
                  <a:lumOff val="25000"/>
                </a:schemeClr>
              </a:solidFill>
              <a:latin typeface="微软雅黑" panose="020B0503020204020204" charset="-122"/>
              <a:cs typeface="微软雅黑" panose="020B0503020204020204" charset="-122"/>
              <a:sym typeface="+mn-ea"/>
            </a:endParaRPr>
          </a:p>
        </p:txBody>
      </p:sp>
      <p:sp>
        <p:nvSpPr>
          <p:cNvPr id="25" name="文本框 24"/>
          <p:cNvSpPr txBox="1"/>
          <p:nvPr>
            <p:custDataLst>
              <p:tags r:id="rId8"/>
            </p:custDataLst>
          </p:nvPr>
        </p:nvSpPr>
        <p:spPr>
          <a:xfrm>
            <a:off x="6347857" y="3718702"/>
            <a:ext cx="746522" cy="623888"/>
          </a:xfrm>
          <a:prstGeom prst="rect">
            <a:avLst/>
          </a:prstGeom>
          <a:noFill/>
        </p:spPr>
        <p:txBody>
          <a:bodyPr lIns="67500" tIns="35100" rIns="67500" bIns="35100">
            <a:normAutofit fontScale="97500"/>
          </a:bodyPr>
          <a:lstStyle/>
          <a:p>
            <a:pPr defTabSz="913765" fontAlgn="auto">
              <a:buFontTx/>
              <a:buNone/>
            </a:pPr>
            <a:r>
              <a:rPr lang="en-US" altLang="zh-CN" sz="3600" b="1" noProof="1">
                <a:solidFill>
                  <a:schemeClr val="accent1"/>
                </a:solidFill>
                <a:latin typeface="微软雅黑" panose="020B0503020204020204" charset="-122"/>
                <a:cs typeface="微软雅黑" panose="020B0503020204020204" charset="-122"/>
                <a:sym typeface="+mn-ea"/>
              </a:rPr>
              <a:t>04</a:t>
            </a:r>
            <a:endParaRPr lang="en-US" altLang="zh-CN" sz="3600" b="1" noProof="1">
              <a:solidFill>
                <a:schemeClr val="accent1"/>
              </a:solidFill>
              <a:latin typeface="微软雅黑" panose="020B0503020204020204" charset="-122"/>
              <a:cs typeface="微软雅黑" panose="020B0503020204020204" charset="-122"/>
              <a:sym typeface="+mn-ea"/>
            </a:endParaRPr>
          </a:p>
        </p:txBody>
      </p:sp>
      <p:sp>
        <p:nvSpPr>
          <p:cNvPr id="8201" name="文本框 27"/>
          <p:cNvSpPr txBox="1">
            <a:spLocks noChangeArrowheads="1"/>
          </p:cNvSpPr>
          <p:nvPr>
            <p:custDataLst>
              <p:tags r:id="rId9"/>
            </p:custDataLst>
          </p:nvPr>
        </p:nvSpPr>
        <p:spPr bwMode="auto">
          <a:xfrm>
            <a:off x="7212965" y="3813810"/>
            <a:ext cx="280416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500" tIns="35100" rIns="67500" bIns="35100" anchor="ct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charset="-122"/>
              </a:defRPr>
            </a:lvl9pPr>
          </a:lstStyle>
          <a:p>
            <a:pPr>
              <a:lnSpc>
                <a:spcPct val="130000"/>
              </a:lnSpc>
              <a:buFontTx/>
              <a:buNone/>
            </a:pPr>
            <a:r>
              <a:rPr lang="en-US" altLang="zh-CN" sz="2000" b="1" dirty="0">
                <a:solidFill>
                  <a:schemeClr val="tx1">
                    <a:lumMod val="75000"/>
                    <a:lumOff val="25000"/>
                  </a:schemeClr>
                </a:solidFill>
                <a:latin typeface="微软雅黑" panose="020B0503020204020204" charset="-122"/>
                <a:cs typeface="微软雅黑" panose="020B0503020204020204" charset="-122"/>
                <a:sym typeface="+mn-ea"/>
              </a:rPr>
              <a:t>Core Implementation</a:t>
            </a:r>
            <a:endParaRPr lang="en-US" altLang="zh-CN" sz="2000" b="1" dirty="0">
              <a:solidFill>
                <a:schemeClr val="tx1">
                  <a:lumMod val="75000"/>
                  <a:lumOff val="25000"/>
                </a:schemeClr>
              </a:solidFill>
              <a:latin typeface="微软雅黑" panose="020B0503020204020204" charset="-122"/>
              <a:cs typeface="微软雅黑" panose="020B0503020204020204" charset="-122"/>
              <a:sym typeface="+mn-ea"/>
            </a:endParaRPr>
          </a:p>
        </p:txBody>
      </p:sp>
      <p:sp>
        <p:nvSpPr>
          <p:cNvPr id="11" name="文本框 10"/>
          <p:cNvSpPr txBox="1"/>
          <p:nvPr>
            <p:custDataLst>
              <p:tags r:id="rId10"/>
            </p:custDataLst>
          </p:nvPr>
        </p:nvSpPr>
        <p:spPr>
          <a:xfrm>
            <a:off x="2755741" y="4838485"/>
            <a:ext cx="746522" cy="623888"/>
          </a:xfrm>
          <a:prstGeom prst="rect">
            <a:avLst/>
          </a:prstGeom>
          <a:noFill/>
        </p:spPr>
        <p:txBody>
          <a:bodyPr lIns="67500" tIns="35100" rIns="67500" bIns="35100">
            <a:normAutofit fontScale="97500"/>
          </a:bodyPr>
          <a:lstStyle/>
          <a:p>
            <a:pPr defTabSz="913765" fontAlgn="auto">
              <a:buFontTx/>
              <a:buNone/>
            </a:pPr>
            <a:r>
              <a:rPr lang="en-US" altLang="zh-CN" sz="3600" b="1" noProof="1">
                <a:solidFill>
                  <a:schemeClr val="accent1"/>
                </a:solidFill>
                <a:latin typeface="微软雅黑" panose="020B0503020204020204" charset="-122"/>
                <a:cs typeface="微软雅黑" panose="020B0503020204020204" charset="-122"/>
                <a:sym typeface="+mn-ea"/>
              </a:rPr>
              <a:t>05</a:t>
            </a:r>
            <a:endParaRPr lang="en-US" altLang="zh-CN" sz="3600" b="1" noProof="1">
              <a:solidFill>
                <a:schemeClr val="accent1"/>
              </a:solidFill>
              <a:latin typeface="微软雅黑" panose="020B0503020204020204" charset="-122"/>
              <a:cs typeface="微软雅黑" panose="020B0503020204020204" charset="-122"/>
              <a:sym typeface="+mn-ea"/>
            </a:endParaRPr>
          </a:p>
        </p:txBody>
      </p:sp>
      <p:sp>
        <p:nvSpPr>
          <p:cNvPr id="12" name="文本框 20"/>
          <p:cNvSpPr txBox="1">
            <a:spLocks noChangeArrowheads="1"/>
          </p:cNvSpPr>
          <p:nvPr>
            <p:custDataLst>
              <p:tags r:id="rId11"/>
            </p:custDataLst>
          </p:nvPr>
        </p:nvSpPr>
        <p:spPr bwMode="auto">
          <a:xfrm>
            <a:off x="3655695" y="4838700"/>
            <a:ext cx="2538095" cy="446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500" tIns="35100" rIns="67500" bIns="35100" anchor="ct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charset="-122"/>
              </a:defRPr>
            </a:lvl9pPr>
          </a:lstStyle>
          <a:p>
            <a:pPr>
              <a:lnSpc>
                <a:spcPct val="130000"/>
              </a:lnSpc>
              <a:buFontTx/>
              <a:buNone/>
            </a:pPr>
            <a:r>
              <a:rPr lang="en-US" altLang="zh-CN" sz="2000" b="1" dirty="0">
                <a:solidFill>
                  <a:schemeClr val="tx1">
                    <a:lumMod val="75000"/>
                    <a:lumOff val="25000"/>
                  </a:schemeClr>
                </a:solidFill>
                <a:latin typeface="微软雅黑" panose="020B0503020204020204" charset="-122"/>
                <a:cs typeface="微软雅黑" panose="020B0503020204020204" charset="-122"/>
                <a:sym typeface="+mn-ea"/>
              </a:rPr>
              <a:t>Deployment</a:t>
            </a:r>
            <a:endParaRPr lang="en-US" altLang="zh-CN" sz="2000" b="1" dirty="0">
              <a:solidFill>
                <a:schemeClr val="tx1">
                  <a:lumMod val="75000"/>
                  <a:lumOff val="25000"/>
                </a:schemeClr>
              </a:solidFill>
              <a:latin typeface="微软雅黑" panose="020B0503020204020204" charset="-122"/>
              <a:cs typeface="微软雅黑" panose="020B0503020204020204" charset="-122"/>
              <a:sym typeface="+mn-ea"/>
            </a:endParaRPr>
          </a:p>
        </p:txBody>
      </p:sp>
      <p:sp>
        <p:nvSpPr>
          <p:cNvPr id="13" name="文本框 12"/>
          <p:cNvSpPr txBox="1"/>
          <p:nvPr>
            <p:custDataLst>
              <p:tags r:id="rId12"/>
            </p:custDataLst>
          </p:nvPr>
        </p:nvSpPr>
        <p:spPr>
          <a:xfrm>
            <a:off x="6347857" y="4838485"/>
            <a:ext cx="746522" cy="623888"/>
          </a:xfrm>
          <a:prstGeom prst="rect">
            <a:avLst/>
          </a:prstGeom>
          <a:noFill/>
        </p:spPr>
        <p:txBody>
          <a:bodyPr lIns="67500" tIns="35100" rIns="67500" bIns="35100">
            <a:normAutofit fontScale="97500"/>
          </a:bodyPr>
          <a:lstStyle/>
          <a:p>
            <a:pPr defTabSz="913765" fontAlgn="auto">
              <a:buFontTx/>
              <a:buNone/>
            </a:pPr>
            <a:r>
              <a:rPr lang="en-US" altLang="zh-CN" sz="3600" b="1" noProof="1">
                <a:solidFill>
                  <a:schemeClr val="accent1"/>
                </a:solidFill>
                <a:latin typeface="微软雅黑" panose="020B0503020204020204" charset="-122"/>
                <a:cs typeface="微软雅黑" panose="020B0503020204020204" charset="-122"/>
                <a:sym typeface="+mn-ea"/>
              </a:rPr>
              <a:t>06</a:t>
            </a:r>
            <a:endParaRPr lang="en-US" altLang="zh-CN" sz="3600" b="1" noProof="1">
              <a:solidFill>
                <a:schemeClr val="accent1"/>
              </a:solidFill>
              <a:latin typeface="微软雅黑" panose="020B0503020204020204" charset="-122"/>
              <a:cs typeface="微软雅黑" panose="020B0503020204020204" charset="-122"/>
              <a:sym typeface="+mn-ea"/>
            </a:endParaRPr>
          </a:p>
        </p:txBody>
      </p:sp>
      <p:sp>
        <p:nvSpPr>
          <p:cNvPr id="14" name="文本框 27"/>
          <p:cNvSpPr txBox="1">
            <a:spLocks noChangeArrowheads="1"/>
          </p:cNvSpPr>
          <p:nvPr>
            <p:custDataLst>
              <p:tags r:id="rId13"/>
            </p:custDataLst>
          </p:nvPr>
        </p:nvSpPr>
        <p:spPr bwMode="auto">
          <a:xfrm>
            <a:off x="7212965" y="4933950"/>
            <a:ext cx="2785745" cy="34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500" tIns="35100" rIns="67500" bIns="35100" anchor="ct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charset="-122"/>
              </a:defRPr>
            </a:lvl9pPr>
          </a:lstStyle>
          <a:p>
            <a:pPr>
              <a:lnSpc>
                <a:spcPct val="130000"/>
              </a:lnSpc>
              <a:buFontTx/>
              <a:buNone/>
            </a:pPr>
            <a:r>
              <a:rPr lang="en-US" altLang="zh-CN" sz="2000" b="1" dirty="0">
                <a:solidFill>
                  <a:schemeClr val="tx1">
                    <a:lumMod val="75000"/>
                    <a:lumOff val="25000"/>
                  </a:schemeClr>
                </a:solidFill>
                <a:latin typeface="微软雅黑" panose="020B0503020204020204" charset="-122"/>
                <a:cs typeface="微软雅黑" panose="020B0503020204020204" charset="-122"/>
                <a:sym typeface="+mn-ea"/>
              </a:rPr>
              <a:t>Summary</a:t>
            </a:r>
            <a:endParaRPr lang="en-US" altLang="zh-CN" sz="2000" b="1" dirty="0">
              <a:solidFill>
                <a:schemeClr val="tx1">
                  <a:lumMod val="75000"/>
                  <a:lumOff val="25000"/>
                </a:schemeClr>
              </a:solidFill>
              <a:latin typeface="微软雅黑" panose="020B0503020204020204" charset="-122"/>
              <a:cs typeface="微软雅黑" panose="020B0503020204020204" charset="-122"/>
              <a:sym typeface="+mn-ea"/>
            </a:endParaRPr>
          </a:p>
        </p:txBody>
      </p:sp>
    </p:spTree>
    <p:custDataLst>
      <p:tags r:id="rId1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Project Overview</a:t>
            </a:r>
            <a:endParaRPr lang="en-US" sz="1100"/>
          </a:p>
        </p:txBody>
      </p:sp>
      <p:sp>
        <p:nvSpPr>
          <p:cNvPr id="3" name="AutoShape 3"/>
          <p:cNvSpPr/>
          <p:nvPr/>
        </p:nvSpPr>
        <p:spPr>
          <a:xfrm>
            <a:off x="762000" y="1524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79500" y="1905000"/>
            <a:ext cx="711200" cy="7112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31900" y="2057400"/>
            <a:ext cx="406400" cy="406400"/>
          </a:xfrm>
          <a:prstGeom prst="rect">
            <a:avLst/>
          </a:prstGeom>
        </p:spPr>
      </p:pic>
      <p:sp>
        <p:nvSpPr>
          <p:cNvPr id="6" name="AutoShape 6"/>
          <p:cNvSpPr/>
          <p:nvPr/>
        </p:nvSpPr>
        <p:spPr>
          <a:xfrm>
            <a:off x="1968500" y="2032000"/>
            <a:ext cx="1778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a:t>
            </a:r>
            <a:br>
              <a:rPr lang="en-US" sz="18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Goals</a:t>
            </a:r>
            <a:endParaRPr lang="en-US" sz="1100"/>
          </a:p>
        </p:txBody>
      </p:sp>
      <p:sp>
        <p:nvSpPr>
          <p:cNvPr id="7" name="AutoShape 7"/>
          <p:cNvSpPr/>
          <p:nvPr/>
        </p:nvSpPr>
        <p:spPr>
          <a:xfrm>
            <a:off x="1079500" y="2921000"/>
            <a:ext cx="508000" cy="38100"/>
          </a:xfrm>
          <a:prstGeom prst="roundRect">
            <a:avLst>
              <a:gd name="adj" fmla="val 0"/>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927100" y="31242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Primary Objective</a:t>
            </a:r>
            <a:endParaRPr lang="en-US" sz="1400" b="1">
              <a:solidFill>
                <a:srgbClr val="333333"/>
              </a:solidFill>
              <a:latin typeface="Noto Sans SC" panose="020B0200000000000000" charset="-122"/>
              <a:ea typeface="Noto Sans SC" panose="020B0200000000000000" charset="-122"/>
              <a:cs typeface="Noto Sans SC" panose="020B0200000000000000" charset="-122"/>
            </a:endParaRPr>
          </a:p>
          <a:p>
            <a:pPr indent="0" algn="l">
              <a:lnSpc>
                <a:spcPct val="125000"/>
              </a:lnSpc>
              <a:defRPr/>
            </a:pPr>
            <a:endParaRPr lang="en-US" sz="1100"/>
          </a:p>
        </p:txBody>
      </p:sp>
      <p:sp>
        <p:nvSpPr>
          <p:cNvPr id="12" name="AutoShape 12"/>
          <p:cNvSpPr/>
          <p:nvPr/>
        </p:nvSpPr>
        <p:spPr>
          <a:xfrm>
            <a:off x="4445000" y="1524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3" name="AutoShape 13"/>
          <p:cNvSpPr/>
          <p:nvPr/>
        </p:nvSpPr>
        <p:spPr>
          <a:xfrm>
            <a:off x="4762500" y="1905000"/>
            <a:ext cx="711200" cy="7112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4900" y="2057400"/>
            <a:ext cx="406400" cy="406400"/>
          </a:xfrm>
          <a:prstGeom prst="rect">
            <a:avLst/>
          </a:prstGeom>
        </p:spPr>
      </p:pic>
      <p:sp>
        <p:nvSpPr>
          <p:cNvPr id="15" name="AutoShape 15"/>
          <p:cNvSpPr/>
          <p:nvPr/>
        </p:nvSpPr>
        <p:spPr>
          <a:xfrm>
            <a:off x="5651500" y="2032000"/>
            <a:ext cx="1778000" cy="4572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en-US" sz="1800" b="1">
                <a:solidFill>
                  <a:srgbClr val="333333"/>
                </a:solidFill>
                <a:latin typeface="Noto Sans SC" panose="020B0200000000000000" charset="-122"/>
                <a:ea typeface="Noto Sans SC" panose="020B0200000000000000" charset="-122"/>
                <a:cs typeface="Noto Sans SC" panose="020B0200000000000000" charset="-122"/>
              </a:rPr>
              <a:t>Tech </a:t>
            </a:r>
            <a:endParaRPr lang="en-US" sz="1800" b="1">
              <a:solidFill>
                <a:srgbClr val="333333"/>
              </a:solidFill>
              <a:latin typeface="Noto Sans SC" panose="020B0200000000000000" charset="-122"/>
              <a:ea typeface="Noto Sans SC" panose="020B0200000000000000" charset="-122"/>
              <a:cs typeface="Noto Sans SC" panose="020B0200000000000000" charset="-122"/>
            </a:endParaRPr>
          </a:p>
          <a:p>
            <a:pPr algn="l">
              <a:lnSpc>
                <a:spcPct val="125000"/>
              </a:lnSpc>
              <a:buSzTx/>
              <a:defRPr/>
            </a:pPr>
            <a:r>
              <a:rPr lang="en-US" sz="1800" b="1">
                <a:solidFill>
                  <a:srgbClr val="333333"/>
                </a:solidFill>
                <a:latin typeface="Noto Sans SC" panose="020B0200000000000000" charset="-122"/>
                <a:ea typeface="Noto Sans SC" panose="020B0200000000000000" charset="-122"/>
                <a:cs typeface="Noto Sans SC" panose="020B0200000000000000" charset="-122"/>
              </a:rPr>
              <a:t>stack</a:t>
            </a:r>
            <a:endParaRPr lang="en-US" sz="1800" b="1">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6" name="AutoShape 16"/>
          <p:cNvSpPr/>
          <p:nvPr/>
        </p:nvSpPr>
        <p:spPr>
          <a:xfrm>
            <a:off x="4762500" y="2921000"/>
            <a:ext cx="508000" cy="38100"/>
          </a:xfrm>
          <a:prstGeom prst="roundRect">
            <a:avLst>
              <a:gd name="adj" fmla="val 0"/>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4762500" y="30099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a:solidFill>
                  <a:srgbClr val="333333"/>
                </a:solidFill>
                <a:latin typeface="Noto Sans SC" panose="020B0200000000000000" charset="-122"/>
                <a:ea typeface="Noto Sans SC" panose="020B0200000000000000" charset="-122"/>
                <a:cs typeface="Noto Sans SC" panose="020B0200000000000000" charset="-122"/>
              </a:rPr>
              <a:t>Technology</a:t>
            </a:r>
            <a:endParaRPr lang="en-US" sz="1400" b="1">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8" name="AutoShape 18"/>
          <p:cNvSpPr/>
          <p:nvPr/>
        </p:nvSpPr>
        <p:spPr>
          <a:xfrm>
            <a:off x="4921250" y="3978275"/>
            <a:ext cx="2667000" cy="128016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a:solidFill>
                  <a:srgbClr val="666666"/>
                </a:solidFill>
                <a:latin typeface="Noto Sans SC" panose="020B0200000000000000" charset="-122"/>
                <a:ea typeface="Noto Sans SC" panose="020B0200000000000000" charset="-122"/>
                <a:cs typeface="Noto Sans SC" panose="020B0200000000000000" charset="-122"/>
              </a:rPr>
              <a:t>Telegram Bot API</a:t>
            </a: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r>
              <a:rPr lang="en-US" sz="1200">
                <a:solidFill>
                  <a:srgbClr val="666666"/>
                </a:solidFill>
                <a:latin typeface="Noto Sans SC" panose="020B0200000000000000" charset="-122"/>
                <a:ea typeface="Noto Sans SC" panose="020B0200000000000000" charset="-122"/>
                <a:cs typeface="Noto Sans SC" panose="020B0200000000000000" charset="-122"/>
              </a:rPr>
              <a:t>Azure OpenAI / HKBU LLM API</a:t>
            </a: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r>
              <a:rPr lang="en-US" sz="1200">
                <a:solidFill>
                  <a:srgbClr val="666666"/>
                </a:solidFill>
                <a:latin typeface="Noto Sans SC" panose="020B0200000000000000" charset="-122"/>
                <a:ea typeface="Noto Sans SC" panose="020B0200000000000000" charset="-122"/>
                <a:cs typeface="Noto Sans SC" panose="020B0200000000000000" charset="-122"/>
              </a:rPr>
              <a:t>AWS EC2</a:t>
            </a: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r>
              <a:rPr lang="en-US" sz="1200">
                <a:solidFill>
                  <a:srgbClr val="666666"/>
                </a:solidFill>
                <a:latin typeface="Noto Sans SC" panose="020B0200000000000000" charset="-122"/>
                <a:ea typeface="Noto Sans SC" panose="020B0200000000000000" charset="-122"/>
                <a:cs typeface="Noto Sans SC" panose="020B0200000000000000" charset="-122"/>
              </a:rPr>
              <a:t>Docker</a:t>
            </a: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r>
              <a:rPr lang="en-US" sz="1200">
                <a:solidFill>
                  <a:srgbClr val="666666"/>
                </a:solidFill>
                <a:latin typeface="Noto Sans SC" panose="020B0200000000000000" charset="-122"/>
                <a:ea typeface="Noto Sans SC" panose="020B0200000000000000" charset="-122"/>
                <a:cs typeface="Noto Sans SC" panose="020B0200000000000000" charset="-122"/>
              </a:rPr>
              <a:t>MongoDB Atlas</a:t>
            </a: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endParaRPr lang="en-US" sz="1200">
              <a:solidFill>
                <a:srgbClr val="666666"/>
              </a:solidFill>
              <a:latin typeface="Noto Sans SC" panose="020B0200000000000000" charset="-122"/>
              <a:ea typeface="Noto Sans SC" panose="020B0200000000000000" charset="-122"/>
              <a:cs typeface="Noto Sans SC" panose="020B0200000000000000" charset="-122"/>
            </a:endParaRPr>
          </a:p>
          <a:p>
            <a:pPr indent="0" algn="l">
              <a:lnSpc>
                <a:spcPct val="108000"/>
              </a:lnSpc>
              <a:defRPr/>
            </a:pPr>
            <a:r>
              <a:rPr lang="en-US" sz="1200">
                <a:solidFill>
                  <a:srgbClr val="666666"/>
                </a:solidFill>
                <a:latin typeface="Noto Sans SC" panose="020B0200000000000000" charset="-122"/>
                <a:ea typeface="Noto Sans SC" panose="020B0200000000000000" charset="-122"/>
                <a:cs typeface="Noto Sans SC" panose="020B0200000000000000" charset="-122"/>
              </a:rPr>
              <a:t>GitHub</a:t>
            </a:r>
            <a:endParaRPr lang="en-US" sz="1200">
              <a:solidFill>
                <a:srgbClr val="666666"/>
              </a:solidFill>
              <a:latin typeface="Noto Sans SC" panose="020B0200000000000000" charset="-122"/>
              <a:ea typeface="Noto Sans SC" panose="020B0200000000000000" charset="-122"/>
              <a:cs typeface="Noto Sans SC" panose="020B0200000000000000" charset="-122"/>
            </a:endParaRPr>
          </a:p>
        </p:txBody>
      </p:sp>
      <p:sp>
        <p:nvSpPr>
          <p:cNvPr id="21" name="AutoShape 21"/>
          <p:cNvSpPr/>
          <p:nvPr/>
        </p:nvSpPr>
        <p:spPr>
          <a:xfrm>
            <a:off x="8128000" y="1524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2" name="AutoShape 22"/>
          <p:cNvSpPr/>
          <p:nvPr/>
        </p:nvSpPr>
        <p:spPr>
          <a:xfrm>
            <a:off x="8445500" y="1905000"/>
            <a:ext cx="711200" cy="7112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97900" y="2057400"/>
            <a:ext cx="406400" cy="406400"/>
          </a:xfrm>
          <a:prstGeom prst="rect">
            <a:avLst/>
          </a:prstGeom>
        </p:spPr>
      </p:pic>
      <p:sp>
        <p:nvSpPr>
          <p:cNvPr id="24" name="AutoShape 24"/>
          <p:cNvSpPr/>
          <p:nvPr/>
        </p:nvSpPr>
        <p:spPr>
          <a:xfrm>
            <a:off x="9334500" y="2032000"/>
            <a:ext cx="1778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a:t>
            </a:r>
            <a:b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Features</a:t>
            </a:r>
            <a:endParaRPr lang="en-US" sz="1100"/>
          </a:p>
        </p:txBody>
      </p:sp>
      <p:sp>
        <p:nvSpPr>
          <p:cNvPr id="25" name="AutoShape 25"/>
          <p:cNvSpPr/>
          <p:nvPr/>
        </p:nvSpPr>
        <p:spPr>
          <a:xfrm>
            <a:off x="8445500" y="2921000"/>
            <a:ext cx="508000" cy="38100"/>
          </a:xfrm>
          <a:prstGeom prst="roundRect">
            <a:avLst>
              <a:gd name="adj" fmla="val 0"/>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8445500" y="3302000"/>
            <a:ext cx="2667000" cy="609600"/>
          </a:xfrm>
          <a:prstGeom prst="roundRect">
            <a:avLst>
              <a:gd name="adj" fmla="val 16666"/>
            </a:avLst>
          </a:prstGeom>
          <a:solidFill>
            <a:srgbClr val="4A90E2">
              <a:alpha val="8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8502650" y="332105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Natural Language Q&amp;A</a:t>
            </a:r>
            <a:endParaRPr lang="en-US" sz="1100"/>
          </a:p>
        </p:txBody>
      </p:sp>
      <p:sp>
        <p:nvSpPr>
          <p:cNvPr id="28" name="AutoShape 28"/>
          <p:cNvSpPr/>
          <p:nvPr/>
        </p:nvSpPr>
        <p:spPr>
          <a:xfrm>
            <a:off x="8445500" y="4038600"/>
            <a:ext cx="2667000" cy="609600"/>
          </a:xfrm>
          <a:prstGeom prst="roundRect">
            <a:avLst>
              <a:gd name="adj" fmla="val 16666"/>
            </a:avLst>
          </a:prstGeom>
          <a:solidFill>
            <a:srgbClr val="4A90E2">
              <a:alpha val="8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8502650" y="407670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Multi-turn Contextual Chat</a:t>
            </a:r>
            <a:endParaRPr lang="en-US" sz="1100"/>
          </a:p>
        </p:txBody>
      </p:sp>
      <p:sp>
        <p:nvSpPr>
          <p:cNvPr id="30" name="AutoShape 30"/>
          <p:cNvSpPr/>
          <p:nvPr/>
        </p:nvSpPr>
        <p:spPr>
          <a:xfrm>
            <a:off x="8445500" y="4775200"/>
            <a:ext cx="2667000" cy="609600"/>
          </a:xfrm>
          <a:prstGeom prst="roundRect">
            <a:avLst>
              <a:gd name="adj" fmla="val 16666"/>
            </a:avLst>
          </a:prstGeom>
          <a:solidFill>
            <a:srgbClr val="4A90E2">
              <a:alpha val="8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nvSpPr>
        <p:spPr>
          <a:xfrm>
            <a:off x="8502650" y="4832350"/>
            <a:ext cx="228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Rate Limiting &amp; Error Handling</a:t>
            </a:r>
            <a:endParaRPr lang="en-US" sz="1100"/>
          </a:p>
        </p:txBody>
      </p:sp>
      <p:sp>
        <p:nvSpPr>
          <p:cNvPr id="32" name="AutoShape 18"/>
          <p:cNvSpPr/>
          <p:nvPr/>
        </p:nvSpPr>
        <p:spPr>
          <a:xfrm>
            <a:off x="889000" y="3444875"/>
            <a:ext cx="2667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Successfully fulfill all 7 mandatory technical requirements specified in the course rubric.</a:t>
            </a:r>
            <a:endParaRPr lang="en-US" sz="1100"/>
          </a:p>
        </p:txBody>
      </p:sp>
      <p:sp>
        <p:nvSpPr>
          <p:cNvPr id="33" name="AutoShape 19"/>
          <p:cNvSpPr/>
          <p:nvPr/>
        </p:nvSpPr>
        <p:spPr>
          <a:xfrm>
            <a:off x="889000" y="41656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Secondary Objective</a:t>
            </a:r>
            <a:endParaRPr lang="en-US" sz="1100"/>
          </a:p>
        </p:txBody>
      </p:sp>
      <p:sp>
        <p:nvSpPr>
          <p:cNvPr id="34" name="AutoShape 20"/>
          <p:cNvSpPr/>
          <p:nvPr/>
        </p:nvSpPr>
        <p:spPr>
          <a:xfrm>
            <a:off x="889000" y="4533900"/>
            <a:ext cx="2667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Build a production-ready, low-cost, and fully functional LLM-powered chatbot with high uptime.</a:t>
            </a:r>
            <a:endParaRPr lang="en-US" sz="1100"/>
          </a:p>
        </p:txBody>
      </p:sp>
      <p:sp>
        <p:nvSpPr>
          <p:cNvPr id="35" name="AutoShape 26"/>
          <p:cNvSpPr/>
          <p:nvPr/>
        </p:nvSpPr>
        <p:spPr>
          <a:xfrm>
            <a:off x="831850" y="3441700"/>
            <a:ext cx="2857500" cy="609600"/>
          </a:xfrm>
          <a:prstGeom prst="roundRect">
            <a:avLst>
              <a:gd name="adj" fmla="val 16666"/>
            </a:avLst>
          </a:prstGeom>
          <a:solidFill>
            <a:srgbClr val="4A90E2">
              <a:alpha val="8000"/>
            </a:srgbClr>
          </a:solidFill>
          <a:ln w="25400" cap="flat" cmpd="sng">
            <a:noFill/>
            <a:prstDash val="solid"/>
            <a:round/>
          </a:ln>
        </p:spPr>
        <p:txBody>
          <a:bodyPr vert="horz" wrap="square" lIns="0" tIns="0" rIns="0" bIns="0" rtlCol="0" anchor="ctr" anchorCtr="0"/>
          <a:lstStyle/>
          <a:p>
            <a:pPr algn="ctr">
              <a:defRPr/>
            </a:pPr>
          </a:p>
        </p:txBody>
      </p:sp>
      <p:sp>
        <p:nvSpPr>
          <p:cNvPr id="36" name="AutoShape 26"/>
          <p:cNvSpPr/>
          <p:nvPr/>
        </p:nvSpPr>
        <p:spPr>
          <a:xfrm>
            <a:off x="831850" y="4556125"/>
            <a:ext cx="2857500" cy="675005"/>
          </a:xfrm>
          <a:prstGeom prst="roundRect">
            <a:avLst>
              <a:gd name="adj" fmla="val 16666"/>
            </a:avLst>
          </a:prstGeom>
          <a:solidFill>
            <a:srgbClr val="4A90E2">
              <a:alpha val="8000"/>
            </a:srgbClr>
          </a:solidFill>
          <a:ln w="25400" cap="flat" cmpd="sng">
            <a:noFill/>
            <a:prstDash val="solid"/>
            <a:round/>
          </a:ln>
        </p:spPr>
        <p:txBody>
          <a:bodyPr vert="horz" wrap="square" lIns="0" tIns="0" rIns="0" bIns="0" rtlCol="0" anchor="ctr" anchorCtr="0"/>
          <a:lstStyle/>
          <a:p>
            <a:pPr algn="ctr">
              <a:defRPr/>
            </a:pPr>
          </a:p>
        </p:txBody>
      </p:sp>
      <p:grpSp>
        <p:nvGrpSpPr>
          <p:cNvPr id="45" name="组合 44"/>
          <p:cNvGrpSpPr/>
          <p:nvPr/>
        </p:nvGrpSpPr>
        <p:grpSpPr>
          <a:xfrm>
            <a:off x="4680585" y="3521710"/>
            <a:ext cx="168910" cy="2206625"/>
            <a:chOff x="7105" y="5545"/>
            <a:chExt cx="266" cy="3475"/>
          </a:xfrm>
        </p:grpSpPr>
        <p:sp>
          <p:nvSpPr>
            <p:cNvPr id="37" name="椭圆 36"/>
            <p:cNvSpPr/>
            <p:nvPr/>
          </p:nvSpPr>
          <p:spPr>
            <a:xfrm>
              <a:off x="7105" y="5545"/>
              <a:ext cx="266" cy="255"/>
            </a:xfrm>
            <a:prstGeom prst="ellipse">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7105" y="6265"/>
              <a:ext cx="266" cy="255"/>
            </a:xfrm>
            <a:prstGeom prst="ellipse">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nvSpPr>
          <p:spPr>
            <a:xfrm>
              <a:off x="7105" y="6865"/>
              <a:ext cx="266" cy="255"/>
            </a:xfrm>
            <a:prstGeom prst="ellipse">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椭圆 40"/>
            <p:cNvSpPr/>
            <p:nvPr/>
          </p:nvSpPr>
          <p:spPr>
            <a:xfrm>
              <a:off x="7105" y="7481"/>
              <a:ext cx="266" cy="255"/>
            </a:xfrm>
            <a:prstGeom prst="ellipse">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7105" y="8114"/>
              <a:ext cx="266" cy="255"/>
            </a:xfrm>
            <a:prstGeom prst="ellipse">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nvSpPr>
          <p:spPr>
            <a:xfrm>
              <a:off x="7105" y="8766"/>
              <a:ext cx="266" cy="255"/>
            </a:xfrm>
            <a:prstGeom prst="ellipse">
              <a:avLst/>
            </a:prstGeom>
            <a:ln>
              <a:gradFill>
                <a:gsLst>
                  <a:gs pos="50000">
                    <a:schemeClr val="accent1"/>
                  </a:gs>
                  <a:gs pos="0">
                    <a:schemeClr val="accent1">
                      <a:lumMod val="25000"/>
                      <a:lumOff val="75000"/>
                    </a:schemeClr>
                  </a:gs>
                  <a:gs pos="100000">
                    <a:schemeClr val="accent1">
                      <a:lumMod val="85000"/>
                    </a:schemeClr>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733030" y="381635"/>
            <a:ext cx="572897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System Architecture</a:t>
            </a:r>
            <a:endParaRPr lang="en-US" sz="1100"/>
          </a:p>
        </p:txBody>
      </p:sp>
      <p:sp>
        <p:nvSpPr>
          <p:cNvPr id="34" name="AutoShape 34"/>
          <p:cNvSpPr/>
          <p:nvPr/>
        </p:nvSpPr>
        <p:spPr>
          <a:xfrm>
            <a:off x="6096000" y="1524000"/>
            <a:ext cx="5334000" cy="4953000"/>
          </a:xfrm>
          <a:prstGeom prst="roundRect">
            <a:avLst>
              <a:gd name="adj" fmla="val 4102"/>
            </a:avLst>
          </a:prstGeom>
          <a:solidFill>
            <a:srgbClr val="FFFFFF">
              <a:alpha val="100000"/>
            </a:srgbClr>
          </a:solidFill>
          <a:ln w="25400" cap="flat" cmpd="sng">
            <a:noFill/>
            <a:prstDash val="solid"/>
            <a:round/>
          </a:ln>
          <a:effectLst>
            <a:outerShdw blurRad="2540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35" name="AutoShape 35"/>
          <p:cNvSpPr/>
          <p:nvPr/>
        </p:nvSpPr>
        <p:spPr>
          <a:xfrm>
            <a:off x="6477000" y="1778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Architecture Stack</a:t>
            </a:r>
            <a:endParaRPr lang="en-US" sz="1100"/>
          </a:p>
        </p:txBody>
      </p:sp>
      <p:sp>
        <p:nvSpPr>
          <p:cNvPr id="36" name="AutoShape 36"/>
          <p:cNvSpPr/>
          <p:nvPr/>
        </p:nvSpPr>
        <p:spPr>
          <a:xfrm>
            <a:off x="6477000" y="2413000"/>
            <a:ext cx="4572000" cy="1143000"/>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31000" y="2667000"/>
            <a:ext cx="609600" cy="609600"/>
          </a:xfrm>
          <a:prstGeom prst="rect">
            <a:avLst/>
          </a:prstGeom>
        </p:spPr>
      </p:pic>
      <p:sp>
        <p:nvSpPr>
          <p:cNvPr id="38" name="AutoShape 38"/>
          <p:cNvSpPr/>
          <p:nvPr/>
        </p:nvSpPr>
        <p:spPr>
          <a:xfrm>
            <a:off x="7620000" y="2603500"/>
            <a:ext cx="317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Infrastructure Layer</a:t>
            </a:r>
            <a:endParaRPr lang="en-US" sz="1100"/>
          </a:p>
        </p:txBody>
      </p:sp>
      <p:sp>
        <p:nvSpPr>
          <p:cNvPr id="39" name="AutoShape 39"/>
          <p:cNvSpPr/>
          <p:nvPr/>
        </p:nvSpPr>
        <p:spPr>
          <a:xfrm>
            <a:off x="7620000" y="2984500"/>
            <a:ext cx="3175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AWS EC2 for scalable cloud hosting. Docker containerization ensures consistent runtime environments.</a:t>
            </a:r>
            <a:endParaRPr lang="en-US" sz="1100"/>
          </a:p>
        </p:txBody>
      </p:sp>
      <p:sp>
        <p:nvSpPr>
          <p:cNvPr id="40" name="AutoShape 40"/>
          <p:cNvSpPr/>
          <p:nvPr/>
        </p:nvSpPr>
        <p:spPr>
          <a:xfrm>
            <a:off x="6477000" y="3810000"/>
            <a:ext cx="4572000" cy="1143000"/>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4064000"/>
            <a:ext cx="609600" cy="609600"/>
          </a:xfrm>
          <a:prstGeom prst="rect">
            <a:avLst/>
          </a:prstGeom>
        </p:spPr>
      </p:pic>
      <p:sp>
        <p:nvSpPr>
          <p:cNvPr id="42" name="AutoShape 42"/>
          <p:cNvSpPr/>
          <p:nvPr/>
        </p:nvSpPr>
        <p:spPr>
          <a:xfrm>
            <a:off x="7620000" y="4000500"/>
            <a:ext cx="317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AI Processing Engine</a:t>
            </a:r>
            <a:endParaRPr lang="en-US" sz="1100"/>
          </a:p>
        </p:txBody>
      </p:sp>
      <p:sp>
        <p:nvSpPr>
          <p:cNvPr id="43" name="AutoShape 43"/>
          <p:cNvSpPr/>
          <p:nvPr/>
        </p:nvSpPr>
        <p:spPr>
          <a:xfrm>
            <a:off x="7620000" y="4381500"/>
            <a:ext cx="3175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Seamless integration with a Large Language Model (LLM) API for context-aware response generation.</a:t>
            </a:r>
            <a:endParaRPr lang="en-US" sz="1100"/>
          </a:p>
        </p:txBody>
      </p:sp>
      <p:sp>
        <p:nvSpPr>
          <p:cNvPr id="44" name="AutoShape 44"/>
          <p:cNvSpPr/>
          <p:nvPr/>
        </p:nvSpPr>
        <p:spPr>
          <a:xfrm>
            <a:off x="6477000" y="5207000"/>
            <a:ext cx="4572000" cy="1016000"/>
          </a:xfrm>
          <a:prstGeom prst="roundRect">
            <a:avLst>
              <a:gd name="adj" fmla="val 1250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5" name="Picture 4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5410200"/>
            <a:ext cx="609600" cy="609600"/>
          </a:xfrm>
          <a:prstGeom prst="rect">
            <a:avLst/>
          </a:prstGeom>
        </p:spPr>
      </p:pic>
      <p:sp>
        <p:nvSpPr>
          <p:cNvPr id="46" name="AutoShape 46"/>
          <p:cNvSpPr/>
          <p:nvPr/>
        </p:nvSpPr>
        <p:spPr>
          <a:xfrm>
            <a:off x="7620000" y="5334000"/>
            <a:ext cx="317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Persistence</a:t>
            </a:r>
            <a:endParaRPr lang="en-US" sz="1100"/>
          </a:p>
        </p:txBody>
      </p:sp>
      <p:sp>
        <p:nvSpPr>
          <p:cNvPr id="47" name="AutoShape 47"/>
          <p:cNvSpPr/>
          <p:nvPr/>
        </p:nvSpPr>
        <p:spPr>
          <a:xfrm>
            <a:off x="7620000" y="5689600"/>
            <a:ext cx="3175000" cy="4445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11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MongoDB Atlas stores all chat logs for auditing and analysis.</a:t>
            </a:r>
            <a:endParaRPr lang="en-US" sz="1100"/>
          </a:p>
        </p:txBody>
      </p:sp>
      <p:pic>
        <p:nvPicPr>
          <p:cNvPr id="49" name="图片 48"/>
          <p:cNvPicPr>
            <a:picLocks noChangeAspect="1"/>
          </p:cNvPicPr>
          <p:nvPr/>
        </p:nvPicPr>
        <p:blipFill>
          <a:blip r:embed="rId7"/>
          <a:stretch>
            <a:fillRect/>
          </a:stretch>
        </p:blipFill>
        <p:spPr>
          <a:xfrm>
            <a:off x="1045210" y="-89535"/>
            <a:ext cx="3961130" cy="7036435"/>
          </a:xfrm>
          <a:prstGeom prst="rect">
            <a:avLst/>
          </a:prstGeom>
        </p:spPr>
      </p:pic>
      <p:sp>
        <p:nvSpPr>
          <p:cNvPr id="3" name="AutoShape 3"/>
          <p:cNvSpPr/>
          <p:nvPr/>
        </p:nvSpPr>
        <p:spPr>
          <a:xfrm rot="16200000">
            <a:off x="-1122680" y="792480"/>
            <a:ext cx="3298825" cy="932815"/>
          </a:xfrm>
          <a:prstGeom prst="rect">
            <a:avLst/>
          </a:prstGeom>
          <a:noFill/>
          <a:ln w="12700" cap="flat" cmpd="sng">
            <a:noFill/>
            <a:prstDash val="solid"/>
            <a:round/>
          </a:ln>
        </p:spPr>
        <p:txBody>
          <a:bodyPr vert="eaVert"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Work</a:t>
            </a:r>
            <a:endPar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flow Process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Technical Stack</a:t>
            </a:r>
            <a:endParaRPr lang="en-US" sz="1100"/>
          </a:p>
        </p:txBody>
      </p:sp>
      <p:sp>
        <p:nvSpPr>
          <p:cNvPr id="3" name="AutoShape 3"/>
          <p:cNvSpPr/>
          <p:nvPr/>
        </p:nvSpPr>
        <p:spPr>
          <a:xfrm>
            <a:off x="762000" y="1524000"/>
            <a:ext cx="3302000" cy="4572000"/>
          </a:xfrm>
          <a:prstGeom prst="roundRect">
            <a:avLst>
              <a:gd name="adj" fmla="val 4615"/>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2108200" y="1841500"/>
            <a:ext cx="609600" cy="6096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35200" y="1968500"/>
            <a:ext cx="355600" cy="355600"/>
          </a:xfrm>
          <a:prstGeom prst="rect">
            <a:avLst/>
          </a:prstGeom>
        </p:spPr>
      </p:pic>
      <p:sp>
        <p:nvSpPr>
          <p:cNvPr id="6" name="AutoShape 6"/>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Development</a:t>
            </a:r>
            <a:endParaRPr lang="en-US" sz="1100"/>
          </a:p>
        </p:txBody>
      </p:sp>
      <p:sp>
        <p:nvSpPr>
          <p:cNvPr id="7" name="AutoShape 7"/>
          <p:cNvSpPr/>
          <p:nvPr/>
        </p:nvSpPr>
        <p:spPr>
          <a:xfrm>
            <a:off x="2032000" y="3238500"/>
            <a:ext cx="762000" cy="38100"/>
          </a:xfrm>
          <a:prstGeom prst="roundRect">
            <a:avLst>
              <a:gd name="adj" fmla="val 0"/>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1016000" y="3683000"/>
            <a:ext cx="2794000" cy="1016000"/>
          </a:xfrm>
          <a:prstGeom prst="roundRect">
            <a:avLst>
              <a:gd name="adj" fmla="val 10000"/>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810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LANGUAGE</a:t>
            </a:r>
            <a:endParaRPr lang="en-US" sz="1100"/>
          </a:p>
        </p:txBody>
      </p:sp>
      <p:sp>
        <p:nvSpPr>
          <p:cNvPr id="10" name="AutoShape 10"/>
          <p:cNvSpPr/>
          <p:nvPr/>
        </p:nvSpPr>
        <p:spPr>
          <a:xfrm>
            <a:off x="1206500" y="4191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3.10+ - Chosen for its rich ecosystem and readability.</a:t>
            </a:r>
            <a:endParaRPr lang="en-US" sz="1100"/>
          </a:p>
        </p:txBody>
      </p:sp>
      <p:sp>
        <p:nvSpPr>
          <p:cNvPr id="11" name="AutoShape 11"/>
          <p:cNvSpPr/>
          <p:nvPr/>
        </p:nvSpPr>
        <p:spPr>
          <a:xfrm>
            <a:off x="1016000" y="4953000"/>
            <a:ext cx="2794000" cy="1016000"/>
          </a:xfrm>
          <a:prstGeom prst="roundRect">
            <a:avLst>
              <a:gd name="adj" fmla="val 10000"/>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5080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BOT FRAMEWORK</a:t>
            </a:r>
            <a:endParaRPr lang="en-US" sz="1100"/>
          </a:p>
        </p:txBody>
      </p:sp>
      <p:sp>
        <p:nvSpPr>
          <p:cNvPr id="13" name="AutoShape 13"/>
          <p:cNvSpPr/>
          <p:nvPr/>
        </p:nvSpPr>
        <p:spPr>
          <a:xfrm>
            <a:off x="1206500" y="5461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python-telegram-bot v13.x for seamless Telegram API interaction.</a:t>
            </a:r>
            <a:endParaRPr lang="en-US" sz="1100"/>
          </a:p>
        </p:txBody>
      </p:sp>
      <p:sp>
        <p:nvSpPr>
          <p:cNvPr id="14" name="AutoShape 14"/>
          <p:cNvSpPr/>
          <p:nvPr/>
        </p:nvSpPr>
        <p:spPr>
          <a:xfrm>
            <a:off x="4445000" y="1524000"/>
            <a:ext cx="3302000" cy="4572000"/>
          </a:xfrm>
          <a:prstGeom prst="roundRect">
            <a:avLst>
              <a:gd name="adj" fmla="val 4615"/>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5791200" y="1841500"/>
            <a:ext cx="609600" cy="6096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8200" y="1968500"/>
            <a:ext cx="355600" cy="355600"/>
          </a:xfrm>
          <a:prstGeom prst="rect">
            <a:avLst/>
          </a:prstGeom>
        </p:spPr>
      </p:pic>
      <p:sp>
        <p:nvSpPr>
          <p:cNvPr id="17" name="AutoShape 17"/>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Cloud &amp; Deployment</a:t>
            </a:r>
            <a:endParaRPr lang="en-US" sz="1100"/>
          </a:p>
        </p:txBody>
      </p:sp>
      <p:sp>
        <p:nvSpPr>
          <p:cNvPr id="18" name="AutoShape 18"/>
          <p:cNvSpPr/>
          <p:nvPr/>
        </p:nvSpPr>
        <p:spPr>
          <a:xfrm>
            <a:off x="5715000" y="3238500"/>
            <a:ext cx="762000" cy="38100"/>
          </a:xfrm>
          <a:prstGeom prst="roundRect">
            <a:avLst>
              <a:gd name="adj" fmla="val 0"/>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4603750" y="3384550"/>
            <a:ext cx="2794000" cy="825500"/>
          </a:xfrm>
          <a:prstGeom prst="roundRect">
            <a:avLst>
              <a:gd name="adj" fmla="val 12307"/>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762500" y="3430905"/>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CONTAINERIZATION</a:t>
            </a:r>
            <a:endParaRPr lang="en-US" sz="1100"/>
          </a:p>
        </p:txBody>
      </p:sp>
      <p:sp>
        <p:nvSpPr>
          <p:cNvPr id="21" name="AutoShape 21"/>
          <p:cNvSpPr/>
          <p:nvPr/>
        </p:nvSpPr>
        <p:spPr>
          <a:xfrm>
            <a:off x="4762500" y="3784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Docker - Ensures consistent runtime environment.</a:t>
            </a:r>
            <a:endParaRPr lang="en-US" sz="1100"/>
          </a:p>
        </p:txBody>
      </p:sp>
      <p:sp>
        <p:nvSpPr>
          <p:cNvPr id="22" name="AutoShape 22"/>
          <p:cNvSpPr/>
          <p:nvPr/>
        </p:nvSpPr>
        <p:spPr>
          <a:xfrm>
            <a:off x="4603750" y="4279900"/>
            <a:ext cx="2794000" cy="825500"/>
          </a:xfrm>
          <a:prstGeom prst="roundRect">
            <a:avLst>
              <a:gd name="adj" fmla="val 12307"/>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4794250" y="4346575"/>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CLOUD HOSTING</a:t>
            </a:r>
            <a:endParaRPr lang="en-US" sz="1100"/>
          </a:p>
        </p:txBody>
      </p:sp>
      <p:sp>
        <p:nvSpPr>
          <p:cNvPr id="24" name="AutoShape 24"/>
          <p:cNvSpPr/>
          <p:nvPr/>
        </p:nvSpPr>
        <p:spPr>
          <a:xfrm>
            <a:off x="4794250" y="4673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AWS EC2 (t2.micro) - Stable &amp; free-tier eligible.</a:t>
            </a:r>
            <a:endParaRPr lang="en-US" sz="1100"/>
          </a:p>
        </p:txBody>
      </p:sp>
      <p:sp>
        <p:nvSpPr>
          <p:cNvPr id="25" name="AutoShape 25"/>
          <p:cNvSpPr/>
          <p:nvPr/>
        </p:nvSpPr>
        <p:spPr>
          <a:xfrm>
            <a:off x="4603750" y="5175250"/>
            <a:ext cx="2794000" cy="825500"/>
          </a:xfrm>
          <a:prstGeom prst="roundRect">
            <a:avLst>
              <a:gd name="adj" fmla="val 12307"/>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794250" y="5207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DATABASE</a:t>
            </a:r>
            <a:endParaRPr lang="en-US" sz="1100"/>
          </a:p>
        </p:txBody>
      </p:sp>
      <p:sp>
        <p:nvSpPr>
          <p:cNvPr id="27" name="AutoShape 27"/>
          <p:cNvSpPr/>
          <p:nvPr/>
        </p:nvSpPr>
        <p:spPr>
          <a:xfrm>
            <a:off x="4794250" y="5562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MongoDB Atlas (M0) - Cloud-based log storage.</a:t>
            </a:r>
            <a:endParaRPr lang="en-US" sz="1100"/>
          </a:p>
        </p:txBody>
      </p:sp>
      <p:sp>
        <p:nvSpPr>
          <p:cNvPr id="28" name="AutoShape 28"/>
          <p:cNvSpPr/>
          <p:nvPr/>
        </p:nvSpPr>
        <p:spPr>
          <a:xfrm>
            <a:off x="8128000" y="1524000"/>
            <a:ext cx="3302000" cy="4572000"/>
          </a:xfrm>
          <a:prstGeom prst="roundRect">
            <a:avLst>
              <a:gd name="adj" fmla="val 4615"/>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9" name="AutoShape 29"/>
          <p:cNvSpPr/>
          <p:nvPr/>
        </p:nvSpPr>
        <p:spPr>
          <a:xfrm>
            <a:off x="9474200" y="1841500"/>
            <a:ext cx="609600" cy="6096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30" name="Picture 3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01200" y="1968500"/>
            <a:ext cx="355600" cy="355600"/>
          </a:xfrm>
          <a:prstGeom prst="rect">
            <a:avLst/>
          </a:prstGeom>
        </p:spPr>
      </p:pic>
      <p:sp>
        <p:nvSpPr>
          <p:cNvPr id="31" name="AutoShape 31"/>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&amp; Version Control</a:t>
            </a:r>
            <a:endParaRPr lang="en-US" sz="1100"/>
          </a:p>
        </p:txBody>
      </p:sp>
      <p:sp>
        <p:nvSpPr>
          <p:cNvPr id="32" name="AutoShape 32"/>
          <p:cNvSpPr/>
          <p:nvPr/>
        </p:nvSpPr>
        <p:spPr>
          <a:xfrm>
            <a:off x="9398000" y="3238500"/>
            <a:ext cx="762000" cy="38100"/>
          </a:xfrm>
          <a:prstGeom prst="roundRect">
            <a:avLst>
              <a:gd name="adj" fmla="val 0"/>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sp>
        <p:nvSpPr>
          <p:cNvPr id="33" name="AutoShape 33"/>
          <p:cNvSpPr/>
          <p:nvPr/>
        </p:nvSpPr>
        <p:spPr>
          <a:xfrm>
            <a:off x="8382000" y="3683000"/>
            <a:ext cx="2794000" cy="1079500"/>
          </a:xfrm>
          <a:prstGeom prst="roundRect">
            <a:avLst>
              <a:gd name="adj" fmla="val 9411"/>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8572500" y="3810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INTELLIGENCE CORE</a:t>
            </a:r>
            <a:endParaRPr lang="en-US" sz="1100"/>
          </a:p>
        </p:txBody>
      </p:sp>
      <p:sp>
        <p:nvSpPr>
          <p:cNvPr id="35" name="AutoShape 35"/>
          <p:cNvSpPr/>
          <p:nvPr/>
        </p:nvSpPr>
        <p:spPr>
          <a:xfrm>
            <a:off x="8572500" y="4191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Integrated with external LLM APIs (HKBU / OpenAI) for NLP capabilities.</a:t>
            </a:r>
            <a:endParaRPr lang="en-US" sz="1100"/>
          </a:p>
        </p:txBody>
      </p:sp>
      <p:sp>
        <p:nvSpPr>
          <p:cNvPr id="36" name="AutoShape 36"/>
          <p:cNvSpPr/>
          <p:nvPr/>
        </p:nvSpPr>
        <p:spPr>
          <a:xfrm>
            <a:off x="8382000" y="4953000"/>
            <a:ext cx="2794000" cy="1079500"/>
          </a:xfrm>
          <a:prstGeom prst="roundRect">
            <a:avLst>
              <a:gd name="adj" fmla="val 9411"/>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8572500" y="5080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MANAGEMENT</a:t>
            </a:r>
            <a:endParaRPr lang="en-US" sz="1100"/>
          </a:p>
        </p:txBody>
      </p:sp>
      <p:sp>
        <p:nvSpPr>
          <p:cNvPr id="38" name="AutoShape 38"/>
          <p:cNvSpPr/>
          <p:nvPr/>
        </p:nvSpPr>
        <p:spPr>
          <a:xfrm>
            <a:off x="8572500" y="5461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Git &amp; GitHub - Full lifecycle tracking and team collaboration.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Core Implementation</a:t>
            </a:r>
            <a:endParaRPr lang="en-US" sz="1100"/>
          </a:p>
        </p:txBody>
      </p:sp>
      <p:sp>
        <p:nvSpPr>
          <p:cNvPr id="3" name="AutoShape 3"/>
          <p:cNvSpPr/>
          <p:nvPr/>
        </p:nvSpPr>
        <p:spPr>
          <a:xfrm>
            <a:off x="762000" y="133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7 Mandatory Technical Requirements</a:t>
            </a:r>
            <a:endParaRPr lang="en-US" sz="1100"/>
          </a:p>
        </p:txBody>
      </p:sp>
      <p:sp>
        <p:nvSpPr>
          <p:cNvPr id="4" name="AutoShape 4"/>
          <p:cNvSpPr/>
          <p:nvPr/>
        </p:nvSpPr>
        <p:spPr>
          <a:xfrm>
            <a:off x="762000" y="2032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1016000" y="2286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55700" y="2425700"/>
            <a:ext cx="355600" cy="355600"/>
          </a:xfrm>
          <a:prstGeom prst="rect">
            <a:avLst/>
          </a:prstGeom>
        </p:spPr>
      </p:pic>
      <p:sp>
        <p:nvSpPr>
          <p:cNvPr id="7" name="AutoShape 7"/>
          <p:cNvSpPr/>
          <p:nvPr/>
        </p:nvSpPr>
        <p:spPr>
          <a:xfrm>
            <a:off x="1905000" y="2222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Telegram Bot Integration</a:t>
            </a:r>
            <a:endParaRPr lang="en-US" sz="1100"/>
          </a:p>
        </p:txBody>
      </p:sp>
      <p:sp>
        <p:nvSpPr>
          <p:cNvPr id="8" name="AutoShape 8"/>
          <p:cNvSpPr/>
          <p:nvPr/>
        </p:nvSpPr>
        <p:spPr>
          <a:xfrm>
            <a:off x="1905000" y="2603500"/>
            <a:ext cx="3810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Successfully implemented with core commands and conversation handling logic.</a:t>
            </a:r>
            <a:endParaRPr lang="en-US" sz="1100"/>
          </a:p>
        </p:txBody>
      </p:sp>
      <p:sp>
        <p:nvSpPr>
          <p:cNvPr id="9" name="AutoShape 9"/>
          <p:cNvSpPr/>
          <p:nvPr/>
        </p:nvSpPr>
        <p:spPr>
          <a:xfrm>
            <a:off x="762000" y="3429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3683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5700" y="3822700"/>
            <a:ext cx="355600" cy="355600"/>
          </a:xfrm>
          <a:prstGeom prst="rect">
            <a:avLst/>
          </a:prstGeom>
        </p:spPr>
      </p:pic>
      <p:sp>
        <p:nvSpPr>
          <p:cNvPr id="12" name="AutoShape 12"/>
          <p:cNvSpPr/>
          <p:nvPr/>
        </p:nvSpPr>
        <p:spPr>
          <a:xfrm>
            <a:off x="1905000" y="3619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Cloud Database for Log Storage</a:t>
            </a:r>
            <a:endParaRPr lang="en-US" sz="1100"/>
          </a:p>
        </p:txBody>
      </p:sp>
      <p:sp>
        <p:nvSpPr>
          <p:cNvPr id="13" name="AutoShape 13"/>
          <p:cNvSpPr/>
          <p:nvPr/>
        </p:nvSpPr>
        <p:spPr>
          <a:xfrm>
            <a:off x="1905000" y="4000500"/>
            <a:ext cx="3810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MongoDB Atlas deployed for persistent logging of all user interactions and system states.</a:t>
            </a:r>
            <a:endParaRPr lang="en-US" sz="1100"/>
          </a:p>
        </p:txBody>
      </p:sp>
      <p:sp>
        <p:nvSpPr>
          <p:cNvPr id="14" name="AutoShape 14"/>
          <p:cNvSpPr/>
          <p:nvPr/>
        </p:nvSpPr>
        <p:spPr>
          <a:xfrm>
            <a:off x="762000" y="4826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5" name="AutoShape 15"/>
          <p:cNvSpPr/>
          <p:nvPr/>
        </p:nvSpPr>
        <p:spPr>
          <a:xfrm>
            <a:off x="1016000" y="5080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5700" y="5219700"/>
            <a:ext cx="355600" cy="355600"/>
          </a:xfrm>
          <a:prstGeom prst="rect">
            <a:avLst/>
          </a:prstGeom>
        </p:spPr>
      </p:pic>
      <p:sp>
        <p:nvSpPr>
          <p:cNvPr id="17" name="AutoShape 17"/>
          <p:cNvSpPr/>
          <p:nvPr/>
        </p:nvSpPr>
        <p:spPr>
          <a:xfrm>
            <a:off x="1905000" y="5016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Cloud Platform Hosting (AWS EC2)</a:t>
            </a:r>
            <a:endParaRPr lang="en-US" sz="1100"/>
          </a:p>
        </p:txBody>
      </p:sp>
      <p:sp>
        <p:nvSpPr>
          <p:cNvPr id="18" name="AutoShape 18"/>
          <p:cNvSpPr/>
          <p:nvPr/>
        </p:nvSpPr>
        <p:spPr>
          <a:xfrm>
            <a:off x="1905000" y="5397500"/>
            <a:ext cx="3810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Hosted on a stable EC2 instance ensuring 24/7 service availability and reliability.</a:t>
            </a:r>
            <a:endParaRPr lang="en-US" sz="1100"/>
          </a:p>
        </p:txBody>
      </p:sp>
      <p:sp>
        <p:nvSpPr>
          <p:cNvPr id="19" name="AutoShape 19"/>
          <p:cNvSpPr/>
          <p:nvPr/>
        </p:nvSpPr>
        <p:spPr>
          <a:xfrm>
            <a:off x="6223000" y="2032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0" name="AutoShape 20"/>
          <p:cNvSpPr/>
          <p:nvPr/>
        </p:nvSpPr>
        <p:spPr>
          <a:xfrm>
            <a:off x="6477000" y="2286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16700" y="2425700"/>
            <a:ext cx="355600" cy="355600"/>
          </a:xfrm>
          <a:prstGeom prst="rect">
            <a:avLst/>
          </a:prstGeom>
        </p:spPr>
      </p:pic>
      <p:sp>
        <p:nvSpPr>
          <p:cNvPr id="22" name="AutoShape 22"/>
          <p:cNvSpPr/>
          <p:nvPr/>
        </p:nvSpPr>
        <p:spPr>
          <a:xfrm>
            <a:off x="7366000" y="2222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LLM API Integration</a:t>
            </a:r>
            <a:endParaRPr lang="en-US" sz="1100"/>
          </a:p>
        </p:txBody>
      </p:sp>
      <p:sp>
        <p:nvSpPr>
          <p:cNvPr id="23" name="AutoShape 23"/>
          <p:cNvSpPr/>
          <p:nvPr/>
        </p:nvSpPr>
        <p:spPr>
          <a:xfrm>
            <a:off x="7366000" y="2603500"/>
            <a:ext cx="3810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Seamless integration with external LLM APIs for generating intelligent and context-aware responses.</a:t>
            </a:r>
            <a:endParaRPr lang="en-US" sz="1100"/>
          </a:p>
        </p:txBody>
      </p:sp>
      <p:sp>
        <p:nvSpPr>
          <p:cNvPr id="24" name="AutoShape 24"/>
          <p:cNvSpPr/>
          <p:nvPr/>
        </p:nvSpPr>
        <p:spPr>
          <a:xfrm>
            <a:off x="6223000" y="3429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25" name="AutoShape 25"/>
          <p:cNvSpPr/>
          <p:nvPr/>
        </p:nvSpPr>
        <p:spPr>
          <a:xfrm>
            <a:off x="6477000" y="3683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16700" y="3822700"/>
            <a:ext cx="355600" cy="355600"/>
          </a:xfrm>
          <a:prstGeom prst="rect">
            <a:avLst/>
          </a:prstGeom>
        </p:spPr>
      </p:pic>
      <p:sp>
        <p:nvSpPr>
          <p:cNvPr id="27" name="AutoShape 27"/>
          <p:cNvSpPr/>
          <p:nvPr/>
        </p:nvSpPr>
        <p:spPr>
          <a:xfrm>
            <a:off x="7366000" y="3619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Git Version Control</a:t>
            </a:r>
            <a:endParaRPr lang="en-US" sz="1100"/>
          </a:p>
        </p:txBody>
      </p:sp>
      <p:sp>
        <p:nvSpPr>
          <p:cNvPr id="28" name="AutoShape 28"/>
          <p:cNvSpPr/>
          <p:nvPr/>
        </p:nvSpPr>
        <p:spPr>
          <a:xfrm>
            <a:off x="7366000" y="4000500"/>
            <a:ext cx="3810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code lifecycle management with detailed commit history and team collaboration workflow.</a:t>
            </a:r>
            <a:endParaRPr lang="en-US" sz="1100"/>
          </a:p>
        </p:txBody>
      </p:sp>
      <p:sp>
        <p:nvSpPr>
          <p:cNvPr id="29" name="AutoShape 29"/>
          <p:cNvSpPr/>
          <p:nvPr/>
        </p:nvSpPr>
        <p:spPr>
          <a:xfrm>
            <a:off x="6223000" y="4826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30" name="AutoShape 30"/>
          <p:cNvSpPr/>
          <p:nvPr/>
        </p:nvSpPr>
        <p:spPr>
          <a:xfrm>
            <a:off x="6477000" y="5080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31" name="Picture 3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16700" y="5219700"/>
            <a:ext cx="355600" cy="355600"/>
          </a:xfrm>
          <a:prstGeom prst="rect">
            <a:avLst/>
          </a:prstGeom>
        </p:spPr>
      </p:pic>
      <p:sp>
        <p:nvSpPr>
          <p:cNvPr id="32" name="AutoShape 32"/>
          <p:cNvSpPr/>
          <p:nvPr/>
        </p:nvSpPr>
        <p:spPr>
          <a:xfrm>
            <a:off x="7366000" y="5016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Container Technology (Docker)</a:t>
            </a:r>
            <a:endPar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33"/>
          <p:cNvSpPr/>
          <p:nvPr/>
        </p:nvSpPr>
        <p:spPr>
          <a:xfrm>
            <a:off x="7366000" y="5397500"/>
            <a:ext cx="3810000" cy="50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fully packaged in Docker containers for consistent deployment across different environments.</a:t>
            </a:r>
            <a:endParaRPr lang="en-US" sz="1100"/>
          </a:p>
        </p:txBody>
      </p:sp>
      <p:sp>
        <p:nvSpPr>
          <p:cNvPr id="35" name="AutoShape 29"/>
          <p:cNvSpPr/>
          <p:nvPr>
            <p:custDataLst>
              <p:tags r:id="rId13"/>
            </p:custDataLst>
          </p:nvPr>
        </p:nvSpPr>
        <p:spPr>
          <a:xfrm>
            <a:off x="6223000" y="635000"/>
            <a:ext cx="5207000" cy="1143000"/>
          </a:xfrm>
          <a:prstGeom prst="roundRect">
            <a:avLst>
              <a:gd name="adj" fmla="val 8888"/>
            </a:avLst>
          </a:prstGeom>
          <a:solidFill>
            <a:srgbClr val="FFFFFF">
              <a:alpha val="100000"/>
            </a:srgbClr>
          </a:solidFill>
          <a:ln w="25400" cap="flat" cmpd="sng">
            <a:noFill/>
            <a:prstDash val="solid"/>
            <a:round/>
          </a:ln>
          <a:effectLst>
            <a:outerShdw blurRad="152400" dist="38100" dir="2700000" algn="tl" rotWithShape="0">
              <a:srgbClr val="000000">
                <a:alpha val="6000"/>
              </a:srgbClr>
            </a:outerShdw>
          </a:effectLst>
        </p:spPr>
        <p:txBody>
          <a:bodyPr vert="horz" wrap="square" lIns="63500" tIns="63500" rIns="63500" bIns="63500" rtlCol="0" anchor="ctr"/>
          <a:p>
            <a:pPr algn="ctr">
              <a:defRPr/>
            </a:pPr>
          </a:p>
        </p:txBody>
      </p:sp>
      <p:sp>
        <p:nvSpPr>
          <p:cNvPr id="38" name="AutoShape 32"/>
          <p:cNvSpPr/>
          <p:nvPr>
            <p:custDataLst>
              <p:tags r:id="rId14"/>
            </p:custDataLst>
          </p:nvPr>
        </p:nvSpPr>
        <p:spPr>
          <a:xfrm>
            <a:off x="7366000" y="825500"/>
            <a:ext cx="3810000" cy="304800"/>
          </a:xfrm>
          <a:prstGeom prst="rect">
            <a:avLst/>
          </a:prstGeom>
          <a:noFill/>
          <a:ln w="12700" cap="flat" cmpd="sng">
            <a:noFill/>
            <a:prstDash val="solid"/>
            <a:round/>
          </a:ln>
        </p:spPr>
        <p:txBody>
          <a:bodyPr vert="horz" wrap="square" lIns="0" tIns="0" rIns="0" bIns="0" rtlCol="0" anchor="ctr" anchorCtr="0"/>
          <a:p>
            <a:pPr indent="0" algn="l">
              <a:lnSpc>
                <a:spcPct val="125000"/>
              </a:lnSpc>
              <a:defRPr/>
            </a:pPr>
            <a:r>
              <a:rPr lang="en-US"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Cost Control</a:t>
            </a:r>
            <a:endPar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3"/>
          <p:cNvSpPr/>
          <p:nvPr>
            <p:custDataLst>
              <p:tags r:id="rId15"/>
            </p:custDataLst>
          </p:nvPr>
        </p:nvSpPr>
        <p:spPr>
          <a:xfrm>
            <a:off x="7366000" y="1163955"/>
            <a:ext cx="3810000" cy="508000"/>
          </a:xfrm>
          <a:prstGeom prst="rect">
            <a:avLst/>
          </a:prstGeom>
          <a:noFill/>
          <a:ln w="12700" cap="flat" cmpd="sng">
            <a:noFill/>
            <a:prstDash val="solid"/>
            <a:round/>
          </a:ln>
        </p:spPr>
        <p:txBody>
          <a:bodyPr vert="horz" wrap="square" lIns="0" tIns="0" rIns="0" bIns="0" rtlCol="0" anchor="t" anchorCtr="0"/>
          <a:p>
            <a:pPr indent="0" algn="l">
              <a:lnSpc>
                <a:spcPct val="100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Leveraged free-tier cloud resources to achieve minimal operational cost, with total monthly expense below $1.</a:t>
            </a:r>
            <a:endPar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25"/>
          <p:cNvSpPr/>
          <p:nvPr>
            <p:custDataLst>
              <p:tags r:id="rId16"/>
            </p:custDataLst>
          </p:nvPr>
        </p:nvSpPr>
        <p:spPr>
          <a:xfrm>
            <a:off x="6477000" y="889000"/>
            <a:ext cx="635000" cy="635000"/>
          </a:xfrm>
          <a:prstGeom prst="ellipse">
            <a:avLst/>
          </a:prstGeom>
          <a:solidFill>
            <a:srgbClr val="4A90E2">
              <a:alpha val="100000"/>
            </a:srgbClr>
          </a:solidFill>
          <a:ln w="25400" cap="flat" cmpd="sng">
            <a:noFill/>
            <a:prstDash val="solid"/>
            <a:round/>
          </a:ln>
        </p:spPr>
        <p:txBody>
          <a:bodyPr vert="horz" wrap="square" lIns="0" tIns="0" rIns="0" bIns="0" rtlCol="0" anchor="ctr" anchorCtr="0"/>
          <a:p>
            <a:pPr algn="ctr">
              <a:defRPr/>
            </a:pPr>
          </a:p>
        </p:txBody>
      </p:sp>
      <p:pic>
        <p:nvPicPr>
          <p:cNvPr id="41" name="Picture 14"/>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65900" y="977900"/>
            <a:ext cx="406400" cy="406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Deployment</a:t>
            </a:r>
            <a:endParaRPr lang="en-US" sz="1100" dirty="0"/>
          </a:p>
        </p:txBody>
      </p:sp>
      <p:sp>
        <p:nvSpPr>
          <p:cNvPr id="3" name="AutoShape 3"/>
          <p:cNvSpPr/>
          <p:nvPr/>
        </p:nvSpPr>
        <p:spPr>
          <a:xfrm>
            <a:off x="762000" y="1524000"/>
            <a:ext cx="4495799" cy="4699000"/>
          </a:xfrm>
          <a:prstGeom prst="roundRect">
            <a:avLst>
              <a:gd name="adj" fmla="val 3243"/>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405718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Deployment Process</a:t>
            </a:r>
            <a:endParaRPr lang="en-US" sz="1100" dirty="0"/>
          </a:p>
        </p:txBody>
      </p:sp>
      <p:sp>
        <p:nvSpPr>
          <p:cNvPr id="5" name="AutoShape 5"/>
          <p:cNvSpPr/>
          <p:nvPr/>
        </p:nvSpPr>
        <p:spPr>
          <a:xfrm>
            <a:off x="1047750" y="2095500"/>
            <a:ext cx="4057185" cy="889000"/>
          </a:xfrm>
          <a:prstGeom prst="roundRect">
            <a:avLst>
              <a:gd name="adj" fmla="val 11428"/>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38250" y="2286000"/>
            <a:ext cx="438614" cy="508000"/>
          </a:xfrm>
          <a:prstGeom prst="ellipse">
            <a:avLst/>
          </a:prstGeom>
          <a:solidFill>
            <a:srgbClr val="E0F2FE">
              <a:alpha val="100000"/>
            </a:srgbClr>
          </a:solidFill>
          <a:ln w="25400" cap="flat" cmpd="sng">
            <a:noFill/>
            <a:prstDash val="solid"/>
            <a:round/>
          </a:ln>
        </p:spPr>
        <p:txBody>
          <a:bodyPr vert="horz" wrap="square" lIns="0" tIns="0" rIns="0" bIns="0" rtlCol="0" anchor="ctr" anchorCtr="0"/>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39850" y="2387600"/>
            <a:ext cx="315099" cy="315099"/>
          </a:xfrm>
          <a:prstGeom prst="rect">
            <a:avLst/>
          </a:prstGeom>
        </p:spPr>
      </p:pic>
      <p:sp>
        <p:nvSpPr>
          <p:cNvPr id="8" name="AutoShape 8"/>
          <p:cNvSpPr/>
          <p:nvPr/>
        </p:nvSpPr>
        <p:spPr>
          <a:xfrm>
            <a:off x="1936749" y="2222500"/>
            <a:ext cx="317995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Local Development</a:t>
            </a:r>
            <a:endParaRPr lang="en-US" sz="1100"/>
          </a:p>
        </p:txBody>
      </p:sp>
      <p:sp>
        <p:nvSpPr>
          <p:cNvPr id="9" name="AutoShape 9"/>
          <p:cNvSpPr/>
          <p:nvPr/>
        </p:nvSpPr>
        <p:spPr>
          <a:xfrm>
            <a:off x="1936749" y="2603500"/>
            <a:ext cx="3179955"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written and tested locally in a dev environment.</a:t>
            </a:r>
            <a:endParaRPr lang="en-US" sz="1100"/>
          </a:p>
        </p:txBody>
      </p:sp>
      <p:sp>
        <p:nvSpPr>
          <p:cNvPr id="10" name="AutoShape 10"/>
          <p:cNvSpPr/>
          <p:nvPr/>
        </p:nvSpPr>
        <p:spPr>
          <a:xfrm>
            <a:off x="1047750" y="3111500"/>
            <a:ext cx="4057185" cy="889000"/>
          </a:xfrm>
          <a:prstGeom prst="roundRect">
            <a:avLst>
              <a:gd name="adj" fmla="val 11428"/>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238250" y="3302000"/>
            <a:ext cx="438614" cy="508000"/>
          </a:xfrm>
          <a:prstGeom prst="ellipse">
            <a:avLst/>
          </a:prstGeom>
          <a:solidFill>
            <a:srgbClr val="E0F2FE">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9850" y="3403600"/>
            <a:ext cx="315099" cy="315099"/>
          </a:xfrm>
          <a:prstGeom prst="rect">
            <a:avLst/>
          </a:prstGeom>
        </p:spPr>
      </p:pic>
      <p:sp>
        <p:nvSpPr>
          <p:cNvPr id="13" name="AutoShape 13"/>
          <p:cNvSpPr/>
          <p:nvPr/>
        </p:nvSpPr>
        <p:spPr>
          <a:xfrm>
            <a:off x="1936749" y="3238500"/>
            <a:ext cx="317995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Dockerization</a:t>
            </a:r>
            <a:endParaRPr lang="en-US" sz="1100"/>
          </a:p>
        </p:txBody>
      </p:sp>
      <p:sp>
        <p:nvSpPr>
          <p:cNvPr id="14" name="AutoShape 14"/>
          <p:cNvSpPr/>
          <p:nvPr/>
        </p:nvSpPr>
        <p:spPr>
          <a:xfrm>
            <a:off x="1936749" y="3619500"/>
            <a:ext cx="3179955"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packaged into a lightweight Docker image.</a:t>
            </a:r>
            <a:endParaRPr lang="en-US" sz="1100"/>
          </a:p>
        </p:txBody>
      </p:sp>
      <p:sp>
        <p:nvSpPr>
          <p:cNvPr id="15" name="AutoShape 15"/>
          <p:cNvSpPr/>
          <p:nvPr/>
        </p:nvSpPr>
        <p:spPr>
          <a:xfrm>
            <a:off x="1047750" y="4127500"/>
            <a:ext cx="4057185" cy="889000"/>
          </a:xfrm>
          <a:prstGeom prst="roundRect">
            <a:avLst>
              <a:gd name="adj" fmla="val 11428"/>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238250" y="4318000"/>
            <a:ext cx="438614" cy="508000"/>
          </a:xfrm>
          <a:prstGeom prst="ellipse">
            <a:avLst/>
          </a:prstGeom>
          <a:solidFill>
            <a:srgbClr val="E0F2FE">
              <a:alpha val="100000"/>
            </a:srgbClr>
          </a:solidFill>
          <a:ln w="25400" cap="flat" cmpd="sng">
            <a:no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39850" y="4419600"/>
            <a:ext cx="315099" cy="315099"/>
          </a:xfrm>
          <a:prstGeom prst="rect">
            <a:avLst/>
          </a:prstGeom>
        </p:spPr>
      </p:pic>
      <p:sp>
        <p:nvSpPr>
          <p:cNvPr id="18" name="AutoShape 18"/>
          <p:cNvSpPr/>
          <p:nvPr/>
        </p:nvSpPr>
        <p:spPr>
          <a:xfrm>
            <a:off x="1936749" y="4254500"/>
            <a:ext cx="317995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AWS Infrastructure Setup</a:t>
            </a:r>
            <a:endParaRPr lang="en-US" sz="1100"/>
          </a:p>
        </p:txBody>
      </p:sp>
      <p:sp>
        <p:nvSpPr>
          <p:cNvPr id="19" name="AutoShape 19"/>
          <p:cNvSpPr/>
          <p:nvPr/>
        </p:nvSpPr>
        <p:spPr>
          <a:xfrm>
            <a:off x="1936749" y="4635500"/>
            <a:ext cx="3179955"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EC2 instance configured with security groups &amp; VPC.</a:t>
            </a:r>
            <a:endParaRPr lang="en-US" sz="1100"/>
          </a:p>
        </p:txBody>
      </p:sp>
      <p:sp>
        <p:nvSpPr>
          <p:cNvPr id="20" name="AutoShape 20"/>
          <p:cNvSpPr/>
          <p:nvPr/>
        </p:nvSpPr>
        <p:spPr>
          <a:xfrm>
            <a:off x="1047750" y="5143500"/>
            <a:ext cx="4057185" cy="889000"/>
          </a:xfrm>
          <a:prstGeom prst="roundRect">
            <a:avLst>
              <a:gd name="adj" fmla="val 11428"/>
            </a:avLst>
          </a:prstGeom>
          <a:solidFill>
            <a:srgbClr val="FA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238250" y="5334000"/>
            <a:ext cx="438614" cy="508000"/>
          </a:xfrm>
          <a:prstGeom prst="ellipse">
            <a:avLst/>
          </a:prstGeom>
          <a:solidFill>
            <a:srgbClr val="E0F2FE">
              <a:alpha val="100000"/>
            </a:srgbClr>
          </a:solidFill>
          <a:ln w="25400" cap="flat" cmpd="sng">
            <a:noFill/>
            <a:prstDash val="solid"/>
            <a:round/>
          </a:ln>
        </p:spPr>
        <p:txBody>
          <a:bodyPr vert="horz" wrap="square" lIns="0" tIns="0" rIns="0" bIns="0" rtlCol="0" anchor="ctr" anchorCtr="0"/>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39850" y="5435600"/>
            <a:ext cx="315099" cy="315099"/>
          </a:xfrm>
          <a:prstGeom prst="rect">
            <a:avLst/>
          </a:prstGeom>
        </p:spPr>
      </p:pic>
      <p:sp>
        <p:nvSpPr>
          <p:cNvPr id="23" name="AutoShape 23"/>
          <p:cNvSpPr/>
          <p:nvPr/>
        </p:nvSpPr>
        <p:spPr>
          <a:xfrm>
            <a:off x="1936749" y="5270500"/>
            <a:ext cx="3179955"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Production Deployment</a:t>
            </a:r>
            <a:endParaRPr lang="en-US" sz="1100"/>
          </a:p>
        </p:txBody>
      </p:sp>
      <p:sp>
        <p:nvSpPr>
          <p:cNvPr id="24" name="AutoShape 24"/>
          <p:cNvSpPr/>
          <p:nvPr/>
        </p:nvSpPr>
        <p:spPr>
          <a:xfrm>
            <a:off x="1936749" y="5651500"/>
            <a:ext cx="3179955"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a:solidFill>
                  <a:srgbClr val="777777"/>
                </a:solidFill>
                <a:latin typeface="Noto Sans SC" panose="020B0200000000000000" charset="-122"/>
                <a:ea typeface="Noto Sans SC" panose="020B0200000000000000" charset="-122"/>
                <a:cs typeface="Noto Sans SC" panose="020B0200000000000000" charset="-122"/>
                <a:sym typeface="Noto Sans SC" panose="020B0200000000000000" charset="-122"/>
              </a:rPr>
              <a:t>Container pulled &amp; run on EC2 for 24/7 uptime.</a:t>
            </a:r>
            <a:endParaRPr lang="en-US" sz="1100" dirty="0"/>
          </a:p>
        </p:txBody>
      </p:sp>
      <p:pic>
        <p:nvPicPr>
          <p:cNvPr id="42" name="图片 41"/>
          <p:cNvPicPr>
            <a:picLocks noChangeAspect="1"/>
          </p:cNvPicPr>
          <p:nvPr/>
        </p:nvPicPr>
        <p:blipFill>
          <a:blip r:embed="rId9"/>
          <a:stretch>
            <a:fillRect/>
          </a:stretch>
        </p:blipFill>
        <p:spPr>
          <a:xfrm>
            <a:off x="5680253" y="383559"/>
            <a:ext cx="5273497" cy="1481456"/>
          </a:xfrm>
          <a:prstGeom prst="rect">
            <a:avLst/>
          </a:prstGeom>
        </p:spPr>
      </p:pic>
      <p:pic>
        <p:nvPicPr>
          <p:cNvPr id="43" name="图片 42"/>
          <p:cNvPicPr>
            <a:picLocks noChangeAspect="1"/>
          </p:cNvPicPr>
          <p:nvPr/>
        </p:nvPicPr>
        <p:blipFill>
          <a:blip r:embed="rId10"/>
          <a:stretch>
            <a:fillRect/>
          </a:stretch>
        </p:blipFill>
        <p:spPr>
          <a:xfrm>
            <a:off x="5680252" y="3388793"/>
            <a:ext cx="5273497" cy="1731414"/>
          </a:xfrm>
          <a:prstGeom prst="rect">
            <a:avLst/>
          </a:prstGeom>
        </p:spPr>
      </p:pic>
      <p:sp>
        <p:nvSpPr>
          <p:cNvPr id="45" name="文本框 44"/>
          <p:cNvSpPr txBox="1"/>
          <p:nvPr/>
        </p:nvSpPr>
        <p:spPr>
          <a:xfrm>
            <a:off x="5680252" y="2038324"/>
            <a:ext cx="6109966" cy="1169551"/>
          </a:xfrm>
          <a:prstGeom prst="rect">
            <a:avLst/>
          </a:prstGeom>
          <a:noFill/>
        </p:spPr>
        <p:txBody>
          <a:bodyPr wrap="square">
            <a:spAutoFit/>
          </a:bodyPr>
          <a:lstStyle/>
          <a:p>
            <a:r>
              <a:rPr lang="en-US" altLang="zh-CN" dirty="0"/>
              <a:t>The deployment and startup of the Telegram chatbot container via Docker on an AWS EC2 instance. The logs verify that the bot completed initialization, established a connection with the Telegram API, and is running stably in the background. The relevant command maintains 24/7 uptime.</a:t>
            </a:r>
            <a:endParaRPr lang="zh-CN" altLang="en-US" dirty="0"/>
          </a:p>
        </p:txBody>
      </p:sp>
      <p:sp>
        <p:nvSpPr>
          <p:cNvPr id="47" name="文本框 46"/>
          <p:cNvSpPr txBox="1"/>
          <p:nvPr/>
        </p:nvSpPr>
        <p:spPr>
          <a:xfrm>
            <a:off x="5680252" y="5312321"/>
            <a:ext cx="5881366" cy="1384995"/>
          </a:xfrm>
          <a:prstGeom prst="rect">
            <a:avLst/>
          </a:prstGeom>
          <a:noFill/>
        </p:spPr>
        <p:txBody>
          <a:bodyPr wrap="square">
            <a:spAutoFit/>
          </a:bodyPr>
          <a:lstStyle/>
          <a:p>
            <a:r>
              <a:rPr lang="en-US" altLang="zh-CN" dirty="0"/>
              <a:t>The robot service is currently running stably under low load; at the same time, the interface supports operations such as data visualization, chart building and index management, proving that the project has successfully persisted chat logs and other data to the MongoDB cloud database, meeting the requirements of the project for log recording and cloud data management.</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Summary</a:t>
            </a:r>
            <a:endParaRPr lang="en-US" sz="1100"/>
          </a:p>
        </p:txBody>
      </p:sp>
      <p:sp>
        <p:nvSpPr>
          <p:cNvPr id="3" name="AutoShape 3"/>
          <p:cNvSpPr/>
          <p:nvPr/>
        </p:nvSpPr>
        <p:spPr>
          <a:xfrm>
            <a:off x="762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981200" y="1905000"/>
            <a:ext cx="863600" cy="8636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59000" y="2082800"/>
            <a:ext cx="508000" cy="508000"/>
          </a:xfrm>
          <a:prstGeom prst="rect">
            <a:avLst/>
          </a:prstGeom>
        </p:spPr>
      </p:pic>
      <p:sp>
        <p:nvSpPr>
          <p:cNvPr id="6" name="AutoShape 6"/>
          <p:cNvSpPr/>
          <p:nvPr/>
        </p:nvSpPr>
        <p:spPr>
          <a:xfrm>
            <a:off x="1016000" y="2921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Key Achievements</a:t>
            </a:r>
            <a:endParaRPr lang="en-US" sz="1100"/>
          </a:p>
        </p:txBody>
      </p:sp>
      <p:sp>
        <p:nvSpPr>
          <p:cNvPr id="7" name="AutoShape 7"/>
          <p:cNvSpPr/>
          <p:nvPr/>
        </p:nvSpPr>
        <p:spPr>
          <a:xfrm>
            <a:off x="1143000" y="3492500"/>
            <a:ext cx="2540000" cy="12700"/>
          </a:xfrm>
          <a:prstGeom prst="roundRect">
            <a:avLst>
              <a:gd name="adj" fmla="val 0"/>
            </a:avLst>
          </a:pr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7465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Delivered a fully functional cloud-native chatbot.</a:t>
            </a:r>
            <a:endParaRPr lang="en-US" sz="1100"/>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Mastered Docker, AWS, MongoDB &amp; API integration.</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Implemented a complete DevOps workflow.</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5664200" y="1905000"/>
            <a:ext cx="863600" cy="8636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2082800"/>
            <a:ext cx="508000" cy="508000"/>
          </a:xfrm>
          <a:prstGeom prst="rect">
            <a:avLst/>
          </a:prstGeom>
        </p:spPr>
      </p:pic>
      <p:sp>
        <p:nvSpPr>
          <p:cNvPr id="12" name="AutoShape 12"/>
          <p:cNvSpPr/>
          <p:nvPr/>
        </p:nvSpPr>
        <p:spPr>
          <a:xfrm>
            <a:off x="4699000" y="2921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Challenges &amp; Lessons</a:t>
            </a:r>
            <a:endParaRPr lang="en-US" sz="1100"/>
          </a:p>
        </p:txBody>
      </p:sp>
      <p:sp>
        <p:nvSpPr>
          <p:cNvPr id="13" name="AutoShape 13"/>
          <p:cNvSpPr/>
          <p:nvPr/>
        </p:nvSpPr>
        <p:spPr>
          <a:xfrm>
            <a:off x="4826000" y="3492500"/>
            <a:ext cx="2540000" cy="12700"/>
          </a:xfrm>
          <a:prstGeom prst="roundRect">
            <a:avLst>
              <a:gd name="adj" fmla="val 0"/>
            </a:avLst>
          </a:pr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99000" y="37465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Challenges:</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Resolved Docker inconsistencies &amp; LLM API rate limits.</a:t>
            </a:r>
            <a:endParaRPr lang="en-US" sz="1100"/>
          </a:p>
          <a:p>
            <a:pPr indent="0" algn="l">
              <a:lnSpc>
                <a:spcPct val="117000"/>
              </a:lnSpc>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Learned:</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Critical importance of version control, cost control &amp; robust error handling.</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128000" y="1651000"/>
            <a:ext cx="3302000" cy="4572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6" name="AutoShape 16"/>
          <p:cNvSpPr/>
          <p:nvPr/>
        </p:nvSpPr>
        <p:spPr>
          <a:xfrm>
            <a:off x="9347200" y="1905000"/>
            <a:ext cx="863600" cy="863600"/>
          </a:xfrm>
          <a:prstGeom prst="ellipse">
            <a:avLst/>
          </a:prstGeom>
          <a:solidFill>
            <a:srgbClr val="4A90E2">
              <a:alpha val="100000"/>
            </a:srgbClr>
          </a:solidFill>
          <a:ln w="25400" cap="flat" cmpd="sng">
            <a:noFill/>
            <a:prstDash val="solid"/>
            <a:round/>
          </a:ln>
        </p:spPr>
        <p:txBody>
          <a:bodyPr vert="horz" wrap="square" lIns="0" tIns="0" rIns="0" bIns="0" rtlCol="0" anchor="ctr" anchorCtr="0"/>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0" y="2082800"/>
            <a:ext cx="508000" cy="508000"/>
          </a:xfrm>
          <a:prstGeom prst="rect">
            <a:avLst/>
          </a:prstGeom>
        </p:spPr>
      </p:pic>
      <p:sp>
        <p:nvSpPr>
          <p:cNvPr id="18" name="AutoShape 18"/>
          <p:cNvSpPr/>
          <p:nvPr/>
        </p:nvSpPr>
        <p:spPr>
          <a:xfrm>
            <a:off x="8382000" y="2921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Improvements</a:t>
            </a:r>
            <a:endParaRPr lang="en-US" sz="1100"/>
          </a:p>
        </p:txBody>
      </p:sp>
      <p:sp>
        <p:nvSpPr>
          <p:cNvPr id="19" name="AutoShape 19"/>
          <p:cNvSpPr/>
          <p:nvPr/>
        </p:nvSpPr>
        <p:spPr>
          <a:xfrm>
            <a:off x="8509000" y="3492500"/>
            <a:ext cx="2540000" cy="12700"/>
          </a:xfrm>
          <a:prstGeom prst="roundRect">
            <a:avLst>
              <a:gd name="adj" fmla="val 0"/>
            </a:avLst>
          </a:prstGeom>
          <a:solidFill>
            <a:srgbClr val="EEEEE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382000" y="37465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Optimize response speed with caching strategies.</a:t>
            </a:r>
            <a:endParaRPr lang="en-US" sz="1100"/>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Add multi-language support &amp; conversation history.</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Explore serverless architectures for scalability.</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3"/>
          <p:cNvSpPr>
            <a:spLocks noGrp="1" noChangeArrowheads="1"/>
          </p:cNvSpPr>
          <p:nvPr>
            <p:ph type="title"/>
            <p:custDataLst>
              <p:tags r:id="rId1"/>
            </p:custDataLst>
          </p:nvPr>
        </p:nvSpPr>
        <p:spPr/>
        <p:txBody>
          <a:bodyPr/>
          <a:lstStyle/>
          <a:p>
            <a:r>
              <a:rPr lang="en-US" altLang="zh-CN" dirty="0"/>
              <a:t>THANKS.</a:t>
            </a:r>
            <a:endParaRPr lang="en-US" altLang="zh-CN" dirty="0"/>
          </a:p>
        </p:txBody>
      </p:sp>
      <p:sp>
        <p:nvSpPr>
          <p:cNvPr id="3" name="文本框 2"/>
          <p:cNvSpPr txBox="1"/>
          <p:nvPr>
            <p:custDataLst>
              <p:tags r:id="rId2"/>
            </p:custDataLst>
          </p:nvPr>
        </p:nvSpPr>
        <p:spPr>
          <a:xfrm>
            <a:off x="10118246" y="2525795"/>
            <a:ext cx="241068" cy="2603180"/>
          </a:xfrm>
          <a:prstGeom prst="rect">
            <a:avLst/>
          </a:prstGeom>
          <a:noFill/>
        </p:spPr>
        <p:txBody>
          <a:bodyPr vert="eaVert" wrap="square" lIns="0" tIns="0" rIns="0" bIns="0" rtlCol="0" anchor="ctr">
            <a:normAutofit/>
          </a:bodyPr>
          <a:lstStyle/>
          <a:p>
            <a:pPr algn="r"/>
            <a:r>
              <a:rPr lang="en-US" altLang="zh-CN" sz="1050" spc="200" dirty="0">
                <a:solidFill>
                  <a:schemeClr val="bg1"/>
                </a:solidFill>
                <a:latin typeface="微软雅黑" panose="020B0503020204020204" charset="-122"/>
                <a:cs typeface="微软雅黑" panose="020B0503020204020204" charset="-122"/>
              </a:rPr>
              <a:t>BUSINESS ANALYSIS REPORT</a:t>
            </a:r>
            <a:endParaRPr lang="en-US" altLang="zh-CN" sz="1050" spc="200" dirty="0">
              <a:solidFill>
                <a:schemeClr val="bg1"/>
              </a:solidFill>
              <a:latin typeface="微软雅黑" panose="020B0503020204020204" charset="-122"/>
              <a:cs typeface="微软雅黑" panose="020B0503020204020204" charset="-122"/>
            </a:endParaRPr>
          </a:p>
        </p:txBody>
      </p:sp>
      <p:pic>
        <p:nvPicPr>
          <p:cNvPr id="2" name="图片 1"/>
          <p:cNvPicPr>
            <a:picLocks noChangeAspect="1"/>
          </p:cNvPicPr>
          <p:nvPr>
            <p:custDataLst>
              <p:tags r:id="rId3"/>
            </p:custDataLst>
          </p:nvPr>
        </p:nvPicPr>
        <p:blipFill>
          <a:blip r:embed="rId4"/>
          <a:stretch>
            <a:fillRect/>
          </a:stretch>
        </p:blipFill>
        <p:spPr>
          <a:xfrm>
            <a:off x="7571105" y="744220"/>
            <a:ext cx="4620895" cy="5347970"/>
          </a:xfrm>
          <a:prstGeom prst="rect">
            <a:avLst/>
          </a:prstGeom>
        </p:spPr>
      </p:pic>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ID" val="_1*d*1"/>
  <p:tag name="KSO_WM_UNIT_LAYERLEVEL" val="1"/>
  <p:tag name="KSO_WM_TAG_VERSION" val="1.0"/>
  <p:tag name="KSO_WM_BEAUTIFY_FLAG" val="#wm#"/>
  <p:tag name="KSO_WM_UNIT_DIAGRAM_ISNUMVISUAL" val="0"/>
  <p:tag name="KSO_WM_UNIT_DIAGRAM_ISREFERUNIT" val="0"/>
  <p:tag name="KSO_WM_UNIT_VALUE" val="1901*1643"/>
  <p:tag name="KSO_WM_UNIT_TYPE" val="d"/>
  <p:tag name="KSO_WM_UNIT_INDEX" val="1"/>
</p:tagLst>
</file>

<file path=ppt/tags/tag2.xml><?xml version="1.0" encoding="utf-8"?>
<p:tagLst xmlns:p="http://schemas.openxmlformats.org/presentationml/2006/main">
  <p:tag name="KSO_WM_UNIT_HIGHLIGHT" val="0"/>
  <p:tag name="KSO_WM_UNIT_COMPATIBLE" val="0"/>
  <p:tag name="KSO_WM_UNIT_ID" val="_1*γ*1"/>
  <p:tag name="KSO_WM_UNIT_LAYERLEVEL" val="1"/>
  <p:tag name="KSO_WM_TAG_VERSION" val="1.0"/>
  <p:tag name="KSO_WM_BEAUTIFY_FLAG" val="#wm#"/>
  <p:tag name="KSO_WM_UNIT_DIAGRAM_ISNUMVISUAL" val="0"/>
  <p:tag name="KSO_WM_UNIT_DIAGRAM_ISREFERUNIT" val="0"/>
  <p:tag name="KSO_WM_UNIT_TYPE" val="γ"/>
  <p:tag name="KSO_WM_UNIT_INDEX" val="1"/>
</p:tagLst>
</file>

<file path=ppt/tags/tag3.xml><?xml version="1.0" encoding="utf-8"?>
<p:tagLst xmlns:p="http://schemas.openxmlformats.org/presentationml/2006/main">
  <p:tag name="KSO_WM_TAG_VERSION" val="1.0"/>
  <p:tag name="KSO_WM_BEAUTIFY_FLAG" val="#wm#"/>
  <p:tag name="KSO_WM_UNIT_ID" val="_1*i*1"/>
  <p:tag name="KSO_WM_UNIT_HIGHLIGHT" val="0"/>
  <p:tag name="KSO_WM_UNIT_COMPATIBLE" val="0"/>
  <p:tag name="KSO_WM_UNIT_LAYERLEVEL" val="1"/>
  <p:tag name="KSO_WM_UNIT_DIAGRAM_ISNUMVISUAL" val="0"/>
  <p:tag name="KSO_WM_UNIT_DIAGRAM_ISREFERUNIT" val="0"/>
  <p:tag name="KSO_WM_UNIT_TYPE" val="i"/>
  <p:tag name="KSO_WM_UNIT_INDEX" val="1"/>
</p:tagLst>
</file>

<file path=ppt/tags/tag4.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ID" val="_1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14.xml><?xml version="1.0" encoding="utf-8"?>
<p:tagLst xmlns:p="http://schemas.openxmlformats.org/presentationml/2006/main">
  <p:tag name="KSO_WM_UNIT_HIGHLIGHT" val="0"/>
  <p:tag name="KSO_WM_UNIT_COMPATIBLE" val="0"/>
  <p:tag name="KSO_WM_UNIT_ID" val="_1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15.xml><?xml version="1.0" encoding="utf-8"?>
<p:tagLst xmlns:p="http://schemas.openxmlformats.org/presentationml/2006/main">
  <p:tag name="KSO_WM_TAG_VERSION" val="1.0"/>
  <p:tag name="KSO_WM_BEAUTIFY_FLAG" val="#wm#"/>
  <p:tag name="KSO_WM_UNIT_ID" val="_11*i*3"/>
  <p:tag name="KSO_WM_UNIT_HIGHLIGHT" val="0"/>
  <p:tag name="KSO_WM_UNIT_COMPATIBLE" val="0"/>
  <p:tag name="KSO_WM_UNIT_LAYERLEVEL" val="1"/>
  <p:tag name="KSO_WM_UNIT_TYPE" val="i"/>
  <p:tag name="KSO_WM_UNIT_INDEX" val="3"/>
  <p:tag name="KSO_WM_UNIT_DIAGRAM_ISNUMVISUAL" val="0"/>
  <p:tag name="KSO_WM_UNIT_DIAGRAM_ISREFERUNIT" val="0"/>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p="http://schemas.openxmlformats.org/presentationml/2006/main">
  <p:tag name="KSO_WM_TEMPLATE_CATEGORY" val="custom"/>
  <p:tag name="KSO_WM_TEMPLATE_INDEX" val="20196580"/>
  <p:tag name="KSO_WM_UNIT_LAYERLEVEL" val="1"/>
  <p:tag name="KSO_WM_UNIT_VALUE" val="9"/>
  <p:tag name="KSO_WM_UNIT_ISCONTENTSTITLE" val="0"/>
  <p:tag name="KSO_WM_UNIT_HIGHLIGHT" val="0"/>
  <p:tag name="KSO_WM_UNIT_COMPATIBLE" val="0"/>
  <p:tag name="KSO_WM_BEAUTIFY_FLAG" val="#wm#"/>
  <p:tag name="KSO_WM_TAG_VERSION" val="1.0"/>
  <p:tag name="KSO_WM_UNIT_ID" val="custom20196580_1*a*1"/>
  <p:tag name="KSO_WM_UNIT_NOCLEAR" val="0"/>
  <p:tag name="KSO_WM_UNIT_DIAGRAM_ISNUMVISUAL" val="0"/>
  <p:tag name="KSO_WM_UNIT_DIAGRAM_ISREFERUNIT" val="0"/>
  <p:tag name="KSO_WM_UNIT_PRESET_TEXT" val="单击此处添加标题"/>
  <p:tag name="KSO_WM_UNIT_TYPE" val="a"/>
  <p:tag name="KSO_WM_UNIT_INDEX" val="1"/>
  <p:tag name="KSO_WM_UNIT_ISNUMDGMTITLE" val="0"/>
  <p:tag name="KSO_WM_UNIT_TEXT_FILL_FORE_SCHEMECOLOR_INDEX_BRIGHTNESS" val="0"/>
  <p:tag name="KSO_WM_UNIT_TEXT_FILL_FORE_SCHEMECOLOR_INDEX" val="5"/>
  <p:tag name="KSO_WM_UNIT_TEXT_FILL_TYPE" val="1"/>
</p:tagLst>
</file>

<file path=ppt/tags/tag21.xml><?xml version="1.0" encoding="utf-8"?>
<p:tagLst xmlns:p="http://schemas.openxmlformats.org/presentationml/2006/main">
  <p:tag name="KSO_WM_TEMPLATE_CATEGORY" val="custom"/>
  <p:tag name="KSO_WM_TEMPLATE_INDEX" val="20196580"/>
  <p:tag name="KSO_WM_UNIT_LAYERLEVEL" val="1"/>
  <p:tag name="KSO_WM_UNIT_VALUE" val="19"/>
  <p:tag name="KSO_WM_UNIT_ISCONTENTSTITLE" val="0"/>
  <p:tag name="KSO_WM_UNIT_HIGHLIGHT" val="0"/>
  <p:tag name="KSO_WM_UNIT_COMPATIBLE" val="0"/>
  <p:tag name="KSO_WM_BEAUTIFY_FLAG" val="#wm#"/>
  <p:tag name="KSO_WM_TAG_VERSION" val="1.0"/>
  <p:tag name="KSO_WM_UNIT_ID" val="custom20196580_1*b*1"/>
  <p:tag name="KSO_WM_UNIT_NOCLEAR" val="0"/>
  <p:tag name="KSO_WM_UNIT_DIAGRAM_ISNUMVISUAL" val="0"/>
  <p:tag name="KSO_WM_UNIT_DIAGRAM_ISREFERUNIT" val="0"/>
  <p:tag name="KSO_WM_UNIT_PRESET_TEXT" val="公司介绍丨品牌宣讲"/>
  <p:tag name="KSO_WM_UNIT_TYPE" val="b"/>
  <p:tag name="KSO_WM_UNIT_INDEX" val="1"/>
  <p:tag name="KSO_WM_UNIT_ISNUMDGMTITLE" val="0"/>
  <p:tag name="KSO_WM_UNIT_TEXT_FILL_FORE_SCHEMECOLOR_INDEX_BRIGHTNESS" val="0"/>
  <p:tag name="KSO_WM_UNIT_TEXT_FILL_FORE_SCHEMECOLOR_INDEX" val="5"/>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196580_1*k*1"/>
  <p:tag name="KSO_WM_TEMPLATE_CATEGORY" val="custom"/>
  <p:tag name="KSO_WM_TEMPLATE_INDEX" val="20196580"/>
  <p:tag name="KSO_WM_UNIT_LAYERLEVEL" val="1"/>
  <p:tag name="KSO_WM_TAG_VERSION" val="1.0"/>
  <p:tag name="KSO_WM_BEAUTIFY_FLAG" val="#wm#"/>
  <p:tag name="KSO_WM_UNIT_NOCLEAR" val="0"/>
  <p:tag name="KSO_WM_UNIT_VALUE" val="4"/>
  <p:tag name="KSO_WM_UNIT_TYPE" val="k"/>
  <p:tag name="KSO_WM_UNIT_INDEX" val="1"/>
  <p:tag name="KSO_WM_UNIT_PRESET_TEXT" val="LOGO"/>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f"/>
  <p:tag name="KSO_WM_UNIT_INDEX" val="1"/>
  <p:tag name="KSO_WM_UNIT_ID" val="custom20196580_1*f*1"/>
  <p:tag name="KSO_WM_TEMPLATE_CATEGORY" val="custom"/>
  <p:tag name="KSO_WM_TEMPLATE_INDEX" val="20196580"/>
  <p:tag name="KSO_WM_UNIT_LAYERLEVEL" val="1"/>
  <p:tag name="KSO_WM_TAG_VERSION" val="1.0"/>
  <p:tag name="KSO_WM_BEAUTIFY_FLAG" val="#wm#"/>
  <p:tag name="KSO_WM_UNIT_SUBTYPE" val="a"/>
  <p:tag name="KSO_WM_UNIT_PRESET_TEXT" val="BUSINESS ANALYSIS REPORT"/>
  <p:tag name="KSO_WM_UNIT_NOCLEAR" val="0"/>
  <p:tag name="KSO_WM_UNIT_VALUE" val="16"/>
  <p:tag name="KSO_WM_UNIT_TEXT_FILL_FORE_SCHEMECOLOR_INDEX_BRIGHTNESS" val="0"/>
  <p:tag name="KSO_WM_UNIT_TEXT_FILL_FORE_SCHEMECOLOR_INDEX" val="14"/>
  <p:tag name="KSO_WM_UNIT_TEXT_FILL_TYPE" val="1"/>
</p:tagLst>
</file>

<file path=ppt/tags/tag24.xml><?xml version="1.0" encoding="utf-8"?>
<p:tagLst xmlns:p="http://schemas.openxmlformats.org/presentationml/2006/main">
  <p:tag name="KSO_WM_TAG_VERSION" val="1.0"/>
  <p:tag name="KSO_WM_SLIDE_ITEM_CNT" val="0"/>
  <p:tag name="KSO_WM_SLIDE_LAYOUT" val="a_b_f_k"/>
  <p:tag name="KSO_WM_SLIDE_LAYOUT_CNT" val="1_1_1_1"/>
  <p:tag name="KSO_WM_SLIDE_TYPE" val="title"/>
  <p:tag name="KSO_WM_SLIDE_SUBTYPE" val="picTxt"/>
  <p:tag name="KSO_WM_BEAUTIFY_FLAG" val="#wm#"/>
  <p:tag name="KSO_WM_COMBINE_RELATE_SLIDE_ID" val="background20185109_1"/>
  <p:tag name="KSO_WM_TEMPLATE_CATEGORY" val="custom"/>
  <p:tag name="KSO_WM_TEMPLATE_INDEX" val="20196580"/>
  <p:tag name="KSO_WM_SLIDE_ID" val="custom20196580_1"/>
  <p:tag name="KSO_WM_SLIDE_INDEX" val="1"/>
  <p:tag name="KSO_WM_TEMPLATE_SUBCATEGORY" val="0"/>
  <p:tag name="KSO_WM_TEMPLATE_THUMBS_INDEX" val="1、2、3、4、6、8、9、10、12、13、17"/>
  <p:tag name="KSO_WM_TEMPLATE_MASTER_TYPE" val="1"/>
  <p:tag name="KSO_WM_TEMPLATE_COLOR_TYPE" val="0"/>
</p:tagLst>
</file>

<file path=ppt/tags/tag25.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a"/>
  <p:tag name="KSO_WM_UNIT_INDEX" val="1"/>
  <p:tag name="KSO_WM_UNIT_LAYERLEVEL" val="1"/>
  <p:tag name="KSO_WM_UNIT_VALUE" val="12"/>
  <p:tag name="KSO_WM_UNIT_ISCONTENTSTITLE" val="1"/>
  <p:tag name="KSO_WM_UNIT_HIGHLIGHT" val="0"/>
  <p:tag name="KSO_WM_UNIT_COMPATIBLE" val="0"/>
  <p:tag name="KSO_WM_UNIT_PRESET_TEXT" val="目录"/>
  <p:tag name="KSO_WM_DIAGRAM_GROUP_CODE" val="l1-1"/>
  <p:tag name="KSO_WM_UNIT_ID" val="custom20196580_6*a*1"/>
  <p:tag name="KSO_WM_UNIT_LINE_FORE_SCHEMECOLOR_INDEX" val="5"/>
  <p:tag name="KSO_WM_UNIT_LINE_FILL_TYPE" val="2"/>
  <p:tag name="KSO_WM_UNIT_TEXT_FILL_FORE_SCHEMECOLOR_INDEX" val="15"/>
  <p:tag name="KSO_WM_UNIT_TEXT_FILL_TYPE" val="1"/>
  <p:tag name="KSO_WM_UNIT_USESOURCEFORMAT_APPLY" val="1"/>
  <p:tag name="KSO_WM_UNIT_NOCLEAR" val="0"/>
  <p:tag name="KSO_WM_UNIT_DIAGRAM_ISNUMVISUAL" val="0"/>
  <p:tag name="KSO_WM_UNIT_DIAGRAM_ISREFERUNIT" val="0"/>
  <p:tag name="KSO_WM_UNIT_ISNUMDGMTITLE" val="0"/>
</p:tagLst>
</file>

<file path=ppt/tags/tag26.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i"/>
  <p:tag name="KSO_WM_UNIT_INDEX" val="1_1_1"/>
  <p:tag name="KSO_WM_UNIT_LAYERLEVEL" val="1_1_1"/>
  <p:tag name="KSO_WM_DIAGRAM_GROUP_CODE" val="l1-1"/>
  <p:tag name="KSO_WM_UNIT_ID" val="custom20196580_6*l_h_i*1_1_1"/>
  <p:tag name="KSO_WM_UNIT_TEXT_FILL_FORE_SCHEMECOLOR_INDEX" val="15"/>
  <p:tag name="KSO_WM_UNIT_TEXT_FILL_TYPE" val="1"/>
  <p:tag name="KSO_WM_UNIT_USESOURCEFORMAT_APPLY" val="1"/>
  <p:tag name="KSO_WM_UNIT_HIGHLIGHT" val="0"/>
  <p:tag name="KSO_WM_UNIT_COMPATIBLE" val="0"/>
  <p:tag name="KSO_WM_UNIT_DIAGRAM_ISNUMVISUAL" val="0"/>
  <p:tag name="KSO_WM_UNIT_DIAGRAM_ISREFERUNIT" val="0"/>
  <p:tag name="KSO_WM_UNIT_SUBTYPE" val="d"/>
</p:tagLst>
</file>

<file path=ppt/tags/tag27.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a"/>
  <p:tag name="KSO_WM_UNIT_INDEX" val="1_1_1"/>
  <p:tag name="KSO_WM_UNIT_LAYERLEVEL" val="1_1_1"/>
  <p:tag name="KSO_WM_UNIT_HIGHLIGHT" val="0"/>
  <p:tag name="KSO_WM_UNIT_COMPATIBLE" val="0"/>
  <p:tag name="KSO_WM_UNIT_PRESET_TEXT" val="单击此处添加标题"/>
  <p:tag name="KSO_WM_DIAGRAM_GROUP_CODE" val="l1-1"/>
  <p:tag name="KSO_WM_UNIT_ID" val="custom20196580_6*l_h_a*1_1_1"/>
  <p:tag name="KSO_WM_UNIT_TEXT_FILL_FORE_SCHEMECOLOR_INDEX" val="13"/>
  <p:tag name="KSO_WM_UNIT_TEXT_FILL_TYPE" val="1"/>
  <p:tag name="KSO_WM_UNIT_USESOURCEFORMAT_APPLY" val="1"/>
  <p:tag name="KSO_WM_UNIT_NOCLEAR" val="0"/>
  <p:tag name="KSO_WM_UNIT_DIAGRAM_ISNUMVISUAL" val="0"/>
  <p:tag name="KSO_WM_UNIT_DIAGRAM_ISREFERUNIT" val="0"/>
  <p:tag name="KSO_WM_UNIT_ISCONTENTSTITLE" val="0"/>
  <p:tag name="KSO_WM_UNIT_ISNUMDGMTITLE" val="0"/>
</p:tagLst>
</file>

<file path=ppt/tags/tag28.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i"/>
  <p:tag name="KSO_WM_UNIT_INDEX" val="1_3_1"/>
  <p:tag name="KSO_WM_UNIT_LAYERLEVEL" val="1_1_1"/>
  <p:tag name="KSO_WM_DIAGRAM_GROUP_CODE" val="l1-1"/>
  <p:tag name="KSO_WM_UNIT_ID" val="custom20196580_6*l_h_i*1_3_1"/>
  <p:tag name="KSO_WM_UNIT_TEXT_FILL_FORE_SCHEMECOLOR_INDEX" val="15"/>
  <p:tag name="KSO_WM_UNIT_TEXT_FILL_TYPE" val="1"/>
  <p:tag name="KSO_WM_UNIT_USESOURCEFORMAT_APPLY" val="1"/>
  <p:tag name="KSO_WM_UNIT_HIGHLIGHT" val="0"/>
  <p:tag name="KSO_WM_UNIT_COMPATIBLE" val="0"/>
  <p:tag name="KSO_WM_UNIT_DIAGRAM_ISNUMVISUAL" val="0"/>
  <p:tag name="KSO_WM_UNIT_DIAGRAM_ISREFERUNIT" val="0"/>
  <p:tag name="KSO_WM_UNIT_SUBTYPE" val="d"/>
</p:tagLst>
</file>

<file path=ppt/tags/tag29.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a"/>
  <p:tag name="KSO_WM_UNIT_INDEX" val="1_3_1"/>
  <p:tag name="KSO_WM_UNIT_LAYERLEVEL" val="1_1_1"/>
  <p:tag name="KSO_WM_UNIT_HIGHLIGHT" val="0"/>
  <p:tag name="KSO_WM_UNIT_COMPATIBLE" val="0"/>
  <p:tag name="KSO_WM_UNIT_PRESET_TEXT" val="单击此处添加标题"/>
  <p:tag name="KSO_WM_DIAGRAM_GROUP_CODE" val="l1-1"/>
  <p:tag name="KSO_WM_UNIT_ID" val="custom20196580_6*l_h_a*1_3_1"/>
  <p:tag name="KSO_WM_UNIT_TEXT_FILL_FORE_SCHEMECOLOR_INDEX" val="13"/>
  <p:tag name="KSO_WM_UNIT_TEXT_FILL_TYPE" val="1"/>
  <p:tag name="KSO_WM_UNIT_USESOURCEFORMAT_APPLY" val="1"/>
  <p:tag name="KSO_WM_UNIT_NOCLEAR" val="0"/>
  <p:tag name="KSO_WM_UNIT_DIAGRAM_ISNUMVISUAL" val="0"/>
  <p:tag name="KSO_WM_UNIT_DIAGRAM_ISREFERUNIT" val="0"/>
  <p:tag name="KSO_WM_UNIT_ISCONTENTSTITLE" val="0"/>
  <p:tag name="KSO_WM_UNIT_ISNUMDGMTITLE" val="0"/>
</p:tagLst>
</file>

<file path=ppt/tags/tag30.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i"/>
  <p:tag name="KSO_WM_UNIT_INDEX" val="1_2_1"/>
  <p:tag name="KSO_WM_UNIT_LAYERLEVEL" val="1_1_1"/>
  <p:tag name="KSO_WM_DIAGRAM_GROUP_CODE" val="l1-1"/>
  <p:tag name="KSO_WM_UNIT_ID" val="custom20196580_6*l_h_i*1_2_1"/>
  <p:tag name="KSO_WM_UNIT_TEXT_FILL_FORE_SCHEMECOLOR_INDEX" val="15"/>
  <p:tag name="KSO_WM_UNIT_TEXT_FILL_TYPE" val="1"/>
  <p:tag name="KSO_WM_UNIT_USESOURCEFORMAT_APPLY" val="1"/>
  <p:tag name="KSO_WM_UNIT_HIGHLIGHT" val="0"/>
  <p:tag name="KSO_WM_UNIT_COMPATIBLE" val="0"/>
  <p:tag name="KSO_WM_UNIT_DIAGRAM_ISNUMVISUAL" val="0"/>
  <p:tag name="KSO_WM_UNIT_DIAGRAM_ISREFERUNIT" val="0"/>
  <p:tag name="KSO_WM_UNIT_SUBTYPE" val="d"/>
</p:tagLst>
</file>

<file path=ppt/tags/tag31.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a"/>
  <p:tag name="KSO_WM_UNIT_INDEX" val="1_2_1"/>
  <p:tag name="KSO_WM_UNIT_LAYERLEVEL" val="1_1_1"/>
  <p:tag name="KSO_WM_UNIT_HIGHLIGHT" val="0"/>
  <p:tag name="KSO_WM_UNIT_COMPATIBLE" val="0"/>
  <p:tag name="KSO_WM_UNIT_PRESET_TEXT" val="单击此处添加标题"/>
  <p:tag name="KSO_WM_DIAGRAM_GROUP_CODE" val="l1-1"/>
  <p:tag name="KSO_WM_UNIT_ID" val="custom20196580_6*l_h_a*1_2_1"/>
  <p:tag name="KSO_WM_UNIT_TEXT_FILL_FORE_SCHEMECOLOR_INDEX" val="13"/>
  <p:tag name="KSO_WM_UNIT_TEXT_FILL_TYPE" val="1"/>
  <p:tag name="KSO_WM_UNIT_USESOURCEFORMAT_APPLY" val="1"/>
  <p:tag name="KSO_WM_UNIT_NOCLEAR" val="0"/>
  <p:tag name="KSO_WM_UNIT_DIAGRAM_ISNUMVISUAL" val="0"/>
  <p:tag name="KSO_WM_UNIT_DIAGRAM_ISREFERUNIT" val="0"/>
  <p:tag name="KSO_WM_UNIT_ISCONTENTSTITLE" val="0"/>
  <p:tag name="KSO_WM_UNIT_ISNUMDGMTITLE" val="0"/>
</p:tagLst>
</file>

<file path=ppt/tags/tag32.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i"/>
  <p:tag name="KSO_WM_UNIT_INDEX" val="1_4_1"/>
  <p:tag name="KSO_WM_UNIT_LAYERLEVEL" val="1_1_1"/>
  <p:tag name="KSO_WM_DIAGRAM_GROUP_CODE" val="l1-1"/>
  <p:tag name="KSO_WM_UNIT_ID" val="custom20196580_6*l_h_i*1_4_1"/>
  <p:tag name="KSO_WM_UNIT_TEXT_FILL_FORE_SCHEMECOLOR_INDEX" val="15"/>
  <p:tag name="KSO_WM_UNIT_TEXT_FILL_TYPE" val="1"/>
  <p:tag name="KSO_WM_UNIT_USESOURCEFORMAT_APPLY" val="1"/>
  <p:tag name="KSO_WM_UNIT_HIGHLIGHT" val="0"/>
  <p:tag name="KSO_WM_UNIT_COMPATIBLE" val="0"/>
  <p:tag name="KSO_WM_UNIT_DIAGRAM_ISNUMVISUAL" val="0"/>
  <p:tag name="KSO_WM_UNIT_DIAGRAM_ISREFERUNIT" val="0"/>
  <p:tag name="KSO_WM_UNIT_SUBTYPE" val="d"/>
</p:tagLst>
</file>

<file path=ppt/tags/tag33.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a"/>
  <p:tag name="KSO_WM_UNIT_INDEX" val="1_4_1"/>
  <p:tag name="KSO_WM_UNIT_LAYERLEVEL" val="1_1_1"/>
  <p:tag name="KSO_WM_UNIT_HIGHLIGHT" val="0"/>
  <p:tag name="KSO_WM_UNIT_COMPATIBLE" val="0"/>
  <p:tag name="KSO_WM_UNIT_PRESET_TEXT" val="单击此处添加标题"/>
  <p:tag name="KSO_WM_DIAGRAM_GROUP_CODE" val="l1-1"/>
  <p:tag name="KSO_WM_UNIT_ID" val="custom20196580_6*l_h_a*1_4_1"/>
  <p:tag name="KSO_WM_UNIT_TEXT_FILL_FORE_SCHEMECOLOR_INDEX" val="13"/>
  <p:tag name="KSO_WM_UNIT_TEXT_FILL_TYPE" val="1"/>
  <p:tag name="KSO_WM_UNIT_USESOURCEFORMAT_APPLY" val="1"/>
  <p:tag name="KSO_WM_UNIT_NOCLEAR" val="0"/>
  <p:tag name="KSO_WM_UNIT_DIAGRAM_ISNUMVISUAL" val="0"/>
  <p:tag name="KSO_WM_UNIT_DIAGRAM_ISREFERUNIT" val="0"/>
  <p:tag name="KSO_WM_UNIT_ISCONTENTSTITLE" val="0"/>
  <p:tag name="KSO_WM_UNIT_ISNUMDGMTITLE" val="0"/>
</p:tagLst>
</file>

<file path=ppt/tags/tag34.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i"/>
  <p:tag name="KSO_WM_UNIT_INDEX" val="1_5_1"/>
  <p:tag name="KSO_WM_UNIT_LAYERLEVEL" val="1_1_1"/>
  <p:tag name="KSO_WM_DIAGRAM_GROUP_CODE" val="l1-1"/>
  <p:tag name="KSO_WM_UNIT_ID" val="custom20196580_6*l_h_i*1_5_1"/>
  <p:tag name="KSO_WM_UNIT_TEXT_FILL_FORE_SCHEMECOLOR_INDEX" val="15"/>
  <p:tag name="KSO_WM_UNIT_TEXT_FILL_TYPE" val="1"/>
  <p:tag name="KSO_WM_UNIT_USESOURCEFORMAT_APPLY" val="1"/>
  <p:tag name="KSO_WM_UNIT_HIGHLIGHT" val="0"/>
  <p:tag name="KSO_WM_UNIT_COMPATIBLE" val="0"/>
  <p:tag name="KSO_WM_UNIT_DIAGRAM_ISNUMVISUAL" val="0"/>
  <p:tag name="KSO_WM_UNIT_DIAGRAM_ISREFERUNIT" val="0"/>
  <p:tag name="KSO_WM_UNIT_SUBTYPE" val="d"/>
</p:tagLst>
</file>

<file path=ppt/tags/tag35.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a"/>
  <p:tag name="KSO_WM_UNIT_INDEX" val="1_5_1"/>
  <p:tag name="KSO_WM_UNIT_LAYERLEVEL" val="1_1_1"/>
  <p:tag name="KSO_WM_UNIT_HIGHLIGHT" val="0"/>
  <p:tag name="KSO_WM_UNIT_COMPATIBLE" val="0"/>
  <p:tag name="KSO_WM_UNIT_PRESET_TEXT" val="单击此处添加标题"/>
  <p:tag name="KSO_WM_DIAGRAM_GROUP_CODE" val="l1-1"/>
  <p:tag name="KSO_WM_UNIT_ID" val="custom20196580_6*l_h_a*1_5_1"/>
  <p:tag name="KSO_WM_UNIT_TEXT_FILL_FORE_SCHEMECOLOR_INDEX" val="13"/>
  <p:tag name="KSO_WM_UNIT_TEXT_FILL_TYPE" val="1"/>
  <p:tag name="KSO_WM_UNIT_USESOURCEFORMAT_APPLY" val="1"/>
  <p:tag name="KSO_WM_UNIT_NOCLEAR" val="0"/>
  <p:tag name="KSO_WM_UNIT_DIAGRAM_ISNUMVISUAL" val="0"/>
  <p:tag name="KSO_WM_UNIT_DIAGRAM_ISREFERUNIT" val="0"/>
  <p:tag name="KSO_WM_UNIT_ISCONTENTSTITLE" val="0"/>
  <p:tag name="KSO_WM_UNIT_ISNUMDGMTITLE" val="0"/>
</p:tagLst>
</file>

<file path=ppt/tags/tag36.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i"/>
  <p:tag name="KSO_WM_UNIT_INDEX" val="1_6_1"/>
  <p:tag name="KSO_WM_UNIT_LAYERLEVEL" val="1_1_1"/>
  <p:tag name="KSO_WM_DIAGRAM_GROUP_CODE" val="l1-1"/>
  <p:tag name="KSO_WM_UNIT_ID" val="custom20196580_6*l_h_i*1_6_1"/>
  <p:tag name="KSO_WM_UNIT_TEXT_FILL_FORE_SCHEMECOLOR_INDEX" val="15"/>
  <p:tag name="KSO_WM_UNIT_TEXT_FILL_TYPE" val="1"/>
  <p:tag name="KSO_WM_UNIT_USESOURCEFORMAT_APPLY" val="1"/>
  <p:tag name="KSO_WM_UNIT_HIGHLIGHT" val="0"/>
  <p:tag name="KSO_WM_UNIT_COMPATIBLE" val="0"/>
  <p:tag name="KSO_WM_UNIT_DIAGRAM_ISNUMVISUAL" val="0"/>
  <p:tag name="KSO_WM_UNIT_DIAGRAM_ISREFERUNIT" val="0"/>
  <p:tag name="KSO_WM_UNIT_SUBTYPE" val="d"/>
</p:tagLst>
</file>

<file path=ppt/tags/tag37.xml><?xml version="1.0" encoding="utf-8"?>
<p:tagLst xmlns:p="http://schemas.openxmlformats.org/presentationml/2006/main">
  <p:tag name="KSO_WM_TEMPLATE_CATEGORY" val="custom"/>
  <p:tag name="KSO_WM_TEMPLATE_INDEX" val="20196580"/>
  <p:tag name="KSO_WM_TAG_VERSION" val="1.0"/>
  <p:tag name="KSO_WM_BEAUTIFY_FLAG" val="#wm#"/>
  <p:tag name="KSO_WM_UNIT_TYPE" val="l_h_a"/>
  <p:tag name="KSO_WM_UNIT_INDEX" val="1_6_1"/>
  <p:tag name="KSO_WM_UNIT_LAYERLEVEL" val="1_1_1"/>
  <p:tag name="KSO_WM_UNIT_HIGHLIGHT" val="0"/>
  <p:tag name="KSO_WM_UNIT_COMPATIBLE" val="0"/>
  <p:tag name="KSO_WM_UNIT_PRESET_TEXT" val="单击此处添加标题"/>
  <p:tag name="KSO_WM_DIAGRAM_GROUP_CODE" val="l1-1"/>
  <p:tag name="KSO_WM_UNIT_ID" val="custom20196580_6*l_h_a*1_6_1"/>
  <p:tag name="KSO_WM_UNIT_TEXT_FILL_FORE_SCHEMECOLOR_INDEX" val="13"/>
  <p:tag name="KSO_WM_UNIT_TEXT_FILL_TYPE" val="1"/>
  <p:tag name="KSO_WM_UNIT_USESOURCEFORMAT_APPLY" val="1"/>
  <p:tag name="KSO_WM_UNIT_NOCLEAR" val="0"/>
  <p:tag name="KSO_WM_UNIT_DIAGRAM_ISNUMVISUAL" val="0"/>
  <p:tag name="KSO_WM_UNIT_DIAGRAM_ISREFERUNIT" val="0"/>
  <p:tag name="KSO_WM_UNIT_ISCONTENTSTITLE" val="0"/>
  <p:tag name="KSO_WM_UNIT_ISNUMDGMTITLE" val="0"/>
</p:tagLst>
</file>

<file path=ppt/tags/tag38.xml><?xml version="1.0" encoding="utf-8"?>
<p:tagLst xmlns:p="http://schemas.openxmlformats.org/presentationml/2006/main">
  <p:tag name="KSO_WM_TAG_VERSION" val="1.0"/>
  <p:tag name="KSO_WM_SLIDE_ITEM_CNT" val="6"/>
  <p:tag name="KSO_WM_SLIDE_LAYOUT" val="a_l"/>
  <p:tag name="KSO_WM_SLIDE_LAYOUT_CNT" val="1_1"/>
  <p:tag name="KSO_WM_SLIDE_TYPE" val="contents"/>
  <p:tag name="KSO_WM_SLIDE_SUBTYPE" val="diag"/>
  <p:tag name="KSO_WM_BEAUTIFY_FLAG" val="#wm#"/>
  <p:tag name="KSO_WM_COMBINE_RELATE_SLIDE_ID" val="background20185109_2"/>
  <p:tag name="KSO_WM_TEMPLATE_CATEGORY" val="custom"/>
  <p:tag name="KSO_WM_TEMPLATE_INDEX" val="20196580"/>
  <p:tag name="KSO_WM_SLIDE_ID" val="custom20196580_6"/>
  <p:tag name="KSO_WM_SLIDE_INDEX" val="6"/>
  <p:tag name="KSO_WM_DIAGRAM_GROUP_CODE" val="l1-1"/>
  <p:tag name="KSO_WM_TEMPLATE_SUBCATEGORY" val="0"/>
  <p:tag name="KSO_WM_SLIDE_DIAGTYPE" val="l"/>
  <p:tag name="KSO_WM_TEMPLATE_MASTER_TYPE" val="1"/>
  <p:tag name="KSO_WM_TEMPLATE_COLOR_TYPE" val="0"/>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TEMPLATE_CATEGORY" val="custom"/>
  <p:tag name="KSO_WM_TEMPLATE_INDEX" val="20196580"/>
  <p:tag name="KSO_WM_UNIT_LAYERLEVEL" val="1"/>
  <p:tag name="KSO_WM_UNIT_VALUE" val="5"/>
  <p:tag name="KSO_WM_UNIT_ISCONTENTSTITLE" val="0"/>
  <p:tag name="KSO_WM_UNIT_HIGHLIGHT" val="0"/>
  <p:tag name="KSO_WM_UNIT_COMPATIBLE" val="0"/>
  <p:tag name="KSO_WM_BEAUTIFY_FLAG" val="#wm#"/>
  <p:tag name="KSO_WM_TAG_VERSION" val="1.0"/>
  <p:tag name="KSO_WM_UNIT_ID" val="custom20196580_17*a*1"/>
  <p:tag name="KSO_WM_UNIT_TYPE" val="a"/>
  <p:tag name="KSO_WM_UNIT_INDEX" val="1"/>
  <p:tag name="KSO_WM_UNIT_PRESET_TEXT" val="THANKS."/>
  <p:tag name="KSO_WM_UNIT_NOCLEAR" val="0"/>
  <p:tag name="KSO_WM_UNIT_DIAGRAM_ISNUMVISUAL" val="0"/>
  <p:tag name="KSO_WM_UNIT_DIAGRAM_ISREFERUNIT" val="0"/>
  <p:tag name="KSO_WM_UNIT_ISNUMDGMTITLE" val="0"/>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f"/>
  <p:tag name="KSO_WM_UNIT_INDEX" val="1"/>
  <p:tag name="KSO_WM_UNIT_ID" val="custom20196580_17*f*1"/>
  <p:tag name="KSO_WM_TEMPLATE_CATEGORY" val="custom"/>
  <p:tag name="KSO_WM_TEMPLATE_INDEX" val="20196580"/>
  <p:tag name="KSO_WM_UNIT_LAYERLEVEL" val="1"/>
  <p:tag name="KSO_WM_TAG_VERSION" val="1.0"/>
  <p:tag name="KSO_WM_BEAUTIFY_FLAG" val="#wm#"/>
  <p:tag name="KSO_WM_UNIT_SUBTYPE" val="a"/>
  <p:tag name="KSO_WM_UNIT_PRESET_TEXT" val="BUSINESS ANALYSIS REPORT"/>
  <p:tag name="KSO_WM_UNIT_NOCLEAR" val="0"/>
  <p:tag name="KSO_WM_UNIT_VALUE" val="16"/>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TAG_VERSION" val="1.0"/>
  <p:tag name="KSO_WM_SLIDE_ITEM_CNT" val="0"/>
  <p:tag name="KSO_WM_SLIDE_LAYOUT" val="a_f"/>
  <p:tag name="KSO_WM_SLIDE_LAYOUT_CNT" val="1_1"/>
  <p:tag name="KSO_WM_SLIDE_TYPE" val="endPage"/>
  <p:tag name="KSO_WM_SLIDE_SUBTYPE" val="pureTxt"/>
  <p:tag name="KSO_WM_BEAUTIFY_FLAG" val="#wm#"/>
  <p:tag name="KSO_WM_COMBINE_RELATE_SLIDE_ID" val="background20185109_10"/>
  <p:tag name="KSO_WM_TEMPLATE_CATEGORY" val="custom"/>
  <p:tag name="KSO_WM_TEMPLATE_INDEX" val="20196580"/>
  <p:tag name="KSO_WM_SLIDE_ID" val="custom20196580_17"/>
  <p:tag name="KSO_WM_SLIDE_INDEX" val="17"/>
  <p:tag name="KSO_WM_TEMPLATE_SUBCATEGORY" val="0"/>
  <p:tag name="KSO_WM_TEMPLATE_MASTER_TYPE" val="1"/>
  <p:tag name="KSO_WM_TEMPLATE_COLOR_TYPE" val="0"/>
</p:tagLst>
</file>

<file path=ppt/tags/tag48.xml><?xml version="1.0" encoding="utf-8"?>
<p:tagLst xmlns:p="http://schemas.openxmlformats.org/presentationml/2006/main">
  <p:tag name="commondata" val="eyJoZGlkIjoiOThhMGNlYjM2NDI3M2Y3ZjdjNmFiMTAwZmE0NDcwMTQ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4011</Words>
  <Application>WPS 演示</Application>
  <PresentationFormat/>
  <Paragraphs>208</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9</vt:i4>
      </vt:variant>
    </vt:vector>
  </HeadingPairs>
  <TitlesOfParts>
    <vt:vector size="20" baseType="lpstr">
      <vt:lpstr>Arial</vt:lpstr>
      <vt:lpstr>宋体</vt:lpstr>
      <vt:lpstr>Wingdings</vt:lpstr>
      <vt:lpstr>Arial</vt:lpstr>
      <vt:lpstr>微软雅黑</vt:lpstr>
      <vt:lpstr>Impact</vt:lpstr>
      <vt:lpstr>Calibri</vt:lpstr>
      <vt:lpstr>Noto Sans SC</vt:lpstr>
      <vt:lpstr>Arial Unicode MS</vt:lpstr>
      <vt:lpstr>Office 主题​​</vt:lpstr>
      <vt:lpstr>默认主题</vt:lpstr>
      <vt:lpstr> COMP7940  Cloud Computing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COMP7940  Cloud Computing</dc:title>
  <dc:creator/>
  <cp:lastModifiedBy>墨</cp:lastModifiedBy>
  <cp:revision>12</cp:revision>
  <dcterms:created xsi:type="dcterms:W3CDTF">2026-04-14T07:09:00Z</dcterms:created>
  <dcterms:modified xsi:type="dcterms:W3CDTF">2026-04-14T12:44:37Z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463D7BBC8F29407281B66B9B25B7ECEA_13</vt:lpwstr>
  </property>
  <property fmtid="{D5CDD505-2E9C-101B-9397-08002B2CF9AE}" pid="3" name="KSOProductBuildVer">
    <vt:lpwstr>2052-12.1.0.16120</vt:lpwstr>
  </property>
</Properties>
</file>